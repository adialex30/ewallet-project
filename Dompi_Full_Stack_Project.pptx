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3.xml.rels" ContentType="application/vnd.openxmlformats-package.relationships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3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</a:t>
            </a:r>
            <a:r>
              <a:rPr b="0" lang="en-US" sz="4400" spc="-1" strike="noStrike">
                <a:latin typeface="Arial"/>
              </a:rPr>
              <a:t>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44D3CB3A-6F98-4F09-B930-206B22790530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E45DDF2-0E72-4A81-AA89-CC0A3209CD1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91A58D7-535A-4612-BCD1-1D66ADCD196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4885E2D-7886-441D-81F5-2E107695FCD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C45ED53-4087-47AF-8865-F980039A598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D2012BF-4B99-4682-B7C9-B22C5E5B13A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BD0D60A-2291-4EC1-9D7A-3AA83DFEB4C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E3E130A-905A-46BC-B3F2-110D3910105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714D72A-665A-435C-849E-9E8B8E0B895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53EEF4A-9D1E-4375-AD23-5A54CC4E366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7529E23-BA32-4E40-858E-68D3C98E3A8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86CF05B-53F6-4376-85A7-DD2FFD2F1CB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4BB22DC-1FF4-45AA-AFD9-94C53574373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D6F2D2D-68E6-48AB-8EC9-BB594DE0712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EAD5065-C0AB-40FE-9D4B-B7AB91D3DC8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367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59AC76E-BF51-4868-8A11-8232DBB8ECA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</a:t>
            </a:r>
            <a:r>
              <a:rPr b="0" lang="en-US" sz="4400" spc="-1" strike="noStrike">
                <a:latin typeface="Arial"/>
              </a:rPr>
              <a:t>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 rot="21240000">
            <a:off x="8137440" y="1005480"/>
            <a:ext cx="3291120" cy="1919520"/>
          </a:xfrm>
          <a:prstGeom prst="roundRect">
            <a:avLst>
              <a:gd name="adj" fmla="val 6667"/>
            </a:avLst>
          </a:prstGeom>
          <a:solidFill>
            <a:srgbClr val="3654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 rot="300000">
            <a:off x="8503920" y="4205520"/>
            <a:ext cx="2925360" cy="1736640"/>
          </a:xfrm>
          <a:prstGeom prst="roundRect">
            <a:avLst>
              <a:gd name="adj" fmla="val 7368"/>
            </a:avLst>
          </a:prstGeom>
          <a:solidFill>
            <a:srgbClr val="1b2436"/>
          </a:solidFill>
          <a:ln w="12700">
            <a:solidFill>
              <a:srgbClr val="2a374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Text 2"/>
          <p:cNvSpPr/>
          <p:nvPr/>
        </p:nvSpPr>
        <p:spPr>
          <a:xfrm>
            <a:off x="822960" y="777240"/>
            <a:ext cx="5485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296" strike="noStrike">
                <a:solidFill>
                  <a:srgbClr val="3654e0"/>
                </a:solidFill>
                <a:latin typeface="Calibri"/>
                <a:ea typeface="Calibri"/>
              </a:rPr>
              <a:t>DOMPI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777240" y="2103120"/>
            <a:ext cx="7497360" cy="23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rgbClr val="ffffff"/>
                </a:solidFill>
                <a:latin typeface="Cambria"/>
                <a:ea typeface="Cambria"/>
              </a:rPr>
              <a:t>Full Stack E-Wallet</a:t>
            </a:r>
            <a:endParaRPr b="0" lang="en-US" sz="54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rgbClr val="ffffff"/>
                </a:solidFill>
                <a:latin typeface="Cambria"/>
                <a:ea typeface="Cambria"/>
              </a:rPr>
              <a:t>Project</a:t>
            </a:r>
            <a:endParaRPr b="0" lang="en-US" sz="5400" spc="-1" strike="noStrike"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822960" y="4343400"/>
            <a:ext cx="65829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c7cedd"/>
                </a:solidFill>
                <a:latin typeface="Calibri"/>
                <a:ea typeface="Calibri"/>
              </a:rPr>
              <a:t>Mini Wallet API &amp; Dashboard, integrated with Midtrans Payment Gateway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822960" y="5989320"/>
            <a:ext cx="4571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Aditya Dwi Irawan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3"/>
          <p:cNvSpPr/>
          <p:nvPr/>
        </p:nvSpPr>
        <p:spPr>
          <a:xfrm>
            <a:off x="7680960" y="4526280"/>
            <a:ext cx="42055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5b6472"/>
                </a:solidFill>
                <a:latin typeface="Calibri"/>
                <a:ea typeface="Calibri"/>
              </a:rPr>
              <a:t>[Your Photo / Avatar]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1" name="Text 4"/>
          <p:cNvSpPr/>
          <p:nvPr/>
        </p:nvSpPr>
        <p:spPr>
          <a:xfrm>
            <a:off x="822960" y="82296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296" strike="noStrike">
                <a:solidFill>
                  <a:srgbClr val="3654e0"/>
                </a:solidFill>
                <a:latin typeface="Calibri"/>
                <a:ea typeface="Calibri"/>
              </a:rPr>
              <a:t>MY JOURNEY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2" name="Text 5"/>
          <p:cNvSpPr/>
          <p:nvPr/>
        </p:nvSpPr>
        <p:spPr>
          <a:xfrm>
            <a:off x="777240" y="1143000"/>
            <a:ext cx="630864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400" spc="-1" strike="noStrike">
                <a:solidFill>
                  <a:srgbClr val="101828"/>
                </a:solidFill>
                <a:latin typeface="Cambria"/>
                <a:ea typeface="Cambria"/>
              </a:rPr>
              <a:t>My Journey as a Developer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53" name="Text 6"/>
          <p:cNvSpPr/>
          <p:nvPr/>
        </p:nvSpPr>
        <p:spPr>
          <a:xfrm>
            <a:off x="822960" y="2514600"/>
            <a:ext cx="6125760" cy="18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5b6472"/>
                </a:solidFill>
                <a:latin typeface="Calibri"/>
                <a:ea typeface="Calibri"/>
              </a:rPr>
              <a:t>Welcome! I'm Aditya Dwi Irawan, a Full Stack Web Developer. Dompi was born from my interest in building financial transaction systems that are genuinely reliable — not just a good-looking UI, but a balance that's never miscalculated, transfers that are safe from race conditions, and payments that are always verified against their source.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54" name="Text 7"/>
          <p:cNvSpPr/>
          <p:nvPr/>
        </p:nvSpPr>
        <p:spPr>
          <a:xfrm>
            <a:off x="822960" y="466344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197" strike="noStrike">
                <a:solidFill>
                  <a:srgbClr val="101828"/>
                </a:solidFill>
                <a:latin typeface="Calibri"/>
                <a:ea typeface="Calibri"/>
              </a:rPr>
              <a:t>EXPERIENCE RELATED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5" name="Text 8"/>
          <p:cNvSpPr/>
          <p:nvPr/>
        </p:nvSpPr>
        <p:spPr>
          <a:xfrm>
            <a:off x="822960" y="5029200"/>
            <a:ext cx="59428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1" lang="en-US" sz="1300" spc="-1" strike="noStrike">
                <a:solidFill>
                  <a:srgbClr val="3654e0"/>
                </a:solidFill>
                <a:latin typeface="Calibri"/>
                <a:ea typeface="Calibri"/>
              </a:rPr>
              <a:t>https://github.com/adialex30/Ewallet-Project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1" lang="en-US" sz="1300" spc="-1" strike="noStrike">
                <a:solidFill>
                  <a:srgbClr val="3654e0"/>
                </a:solidFill>
                <a:latin typeface="Calibri"/>
                <a:ea typeface="Calibri"/>
              </a:rPr>
              <a:t>https://www.linkedin.com/in/aditya-dwi-irawan/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654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0"/>
          <p:cNvSpPr/>
          <p:nvPr/>
        </p:nvSpPr>
        <p:spPr>
          <a:xfrm>
            <a:off x="9326880" y="-1097280"/>
            <a:ext cx="4571280" cy="4571280"/>
          </a:xfrm>
          <a:prstGeom prst="roundRect">
            <a:avLst>
              <a:gd name="adj" fmla="val 50000"/>
            </a:avLst>
          </a:prstGeom>
          <a:solidFill>
            <a:srgbClr val="2a41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Shape 1"/>
          <p:cNvSpPr/>
          <p:nvPr/>
        </p:nvSpPr>
        <p:spPr>
          <a:xfrm>
            <a:off x="10607040" y="3931920"/>
            <a:ext cx="3291120" cy="3291120"/>
          </a:xfrm>
          <a:prstGeom prst="roundRect">
            <a:avLst>
              <a:gd name="adj" fmla="val 50000"/>
            </a:avLst>
          </a:prstGeom>
          <a:solidFill>
            <a:srgbClr val="2a41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Text 2"/>
          <p:cNvSpPr/>
          <p:nvPr/>
        </p:nvSpPr>
        <p:spPr>
          <a:xfrm>
            <a:off x="822960" y="137160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296" strike="noStrike">
                <a:solidFill>
                  <a:srgbClr val="c7cedd"/>
                </a:solidFill>
                <a:latin typeface="Calibri"/>
                <a:ea typeface="Calibri"/>
              </a:rPr>
              <a:t>MAIN PROJECT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9" name="Text 3"/>
          <p:cNvSpPr/>
          <p:nvPr/>
        </p:nvSpPr>
        <p:spPr>
          <a:xfrm>
            <a:off x="777240" y="1737360"/>
            <a:ext cx="694872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solidFill>
                  <a:srgbClr val="ffffff"/>
                </a:solidFill>
                <a:latin typeface="Cambria"/>
                <a:ea typeface="Cambria"/>
              </a:rPr>
              <a:t>Business</a:t>
            </a:r>
            <a:endParaRPr b="0" lang="en-US" sz="4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solidFill>
                  <a:srgbClr val="ffffff"/>
                </a:solidFill>
                <a:latin typeface="Cambria"/>
                <a:ea typeface="Cambria"/>
              </a:rPr>
              <a:t>Perspective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60" name="Text 4"/>
          <p:cNvSpPr/>
          <p:nvPr/>
        </p:nvSpPr>
        <p:spPr>
          <a:xfrm>
            <a:off x="822960" y="370332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This section highlights: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1" name="Text 5"/>
          <p:cNvSpPr/>
          <p:nvPr/>
        </p:nvSpPr>
        <p:spPr>
          <a:xfrm>
            <a:off x="822960" y="4114800"/>
            <a:ext cx="621720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77840" indent="-177840">
              <a:lnSpc>
                <a:spcPct val="100000"/>
              </a:lnSpc>
              <a:spcAft>
                <a:spcPts val="1001"/>
              </a:spcAft>
              <a:buClr>
                <a:srgbClr val="e2e7fb"/>
              </a:buClr>
              <a:buFont typeface="StarSymbol"/>
              <a:buChar char="▪"/>
            </a:pPr>
            <a:r>
              <a:rPr b="0" lang="en-US" sz="1400" spc="-1" strike="noStrike">
                <a:solidFill>
                  <a:srgbClr val="e2e7fb"/>
                </a:solidFill>
                <a:latin typeface="Calibri"/>
                <a:ea typeface="Calibri"/>
              </a:rPr>
              <a:t>Problem Statement</a:t>
            </a:r>
            <a:endParaRPr b="0" lang="en-US" sz="1400" spc="-1" strike="noStrike">
              <a:latin typeface="Arial"/>
            </a:endParaRPr>
          </a:p>
          <a:p>
            <a:pPr marL="177840" indent="-177840">
              <a:lnSpc>
                <a:spcPct val="100000"/>
              </a:lnSpc>
              <a:spcAft>
                <a:spcPts val="1001"/>
              </a:spcAft>
              <a:buClr>
                <a:srgbClr val="e2e7fb"/>
              </a:buClr>
              <a:buFont typeface="StarSymbol"/>
              <a:buChar char="▪"/>
            </a:pPr>
            <a:r>
              <a:rPr b="0" lang="en-US" sz="1400" spc="-1" strike="noStrike">
                <a:solidFill>
                  <a:srgbClr val="e2e7fb"/>
                </a:solidFill>
                <a:latin typeface="Calibri"/>
                <a:ea typeface="Calibri"/>
              </a:rPr>
              <a:t>Target User &amp; Value Proposition</a:t>
            </a:r>
            <a:endParaRPr b="0" lang="en-US" sz="1400" spc="-1" strike="noStrike">
              <a:latin typeface="Arial"/>
            </a:endParaRPr>
          </a:p>
          <a:p>
            <a:pPr marL="177840" indent="-177840">
              <a:lnSpc>
                <a:spcPct val="100000"/>
              </a:lnSpc>
              <a:spcAft>
                <a:spcPts val="1001"/>
              </a:spcAft>
              <a:buClr>
                <a:srgbClr val="e2e7fb"/>
              </a:buClr>
              <a:buFont typeface="StarSymbol"/>
              <a:buChar char="▪"/>
            </a:pPr>
            <a:r>
              <a:rPr b="0" lang="en-US" sz="1400" spc="-1" strike="noStrike">
                <a:solidFill>
                  <a:srgbClr val="e2e7fb"/>
                </a:solidFill>
                <a:latin typeface="Calibri"/>
                <a:ea typeface="Calibri"/>
              </a:rPr>
              <a:t>Business Model</a:t>
            </a:r>
            <a:endParaRPr b="0" lang="en-US" sz="1400" spc="-1" strike="noStrike">
              <a:latin typeface="Arial"/>
            </a:endParaRPr>
          </a:p>
          <a:p>
            <a:pPr marL="177840" indent="-177840">
              <a:lnSpc>
                <a:spcPct val="100000"/>
              </a:lnSpc>
              <a:spcAft>
                <a:spcPts val="1001"/>
              </a:spcAft>
              <a:buClr>
                <a:srgbClr val="e2e7fb"/>
              </a:buClr>
              <a:buFont typeface="StarSymbol"/>
              <a:buChar char="▪"/>
            </a:pPr>
            <a:r>
              <a:rPr b="0" lang="en-US" sz="1400" spc="-1" strike="noStrike">
                <a:solidFill>
                  <a:srgbClr val="e2e7fb"/>
                </a:solidFill>
                <a:latin typeface="Calibri"/>
                <a:ea typeface="Calibri"/>
              </a:rPr>
              <a:t>Impact &amp; Scalability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2" name="Text 6"/>
          <p:cNvSpPr/>
          <p:nvPr/>
        </p:nvSpPr>
        <p:spPr>
          <a:xfrm>
            <a:off x="11457360" y="644652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5b6472"/>
                </a:solidFill>
                <a:latin typeface="Calibri"/>
                <a:ea typeface="Calibri"/>
              </a:rPr>
              <a:t>03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0"/>
          <p:cNvSpPr/>
          <p:nvPr/>
        </p:nvSpPr>
        <p:spPr>
          <a:xfrm>
            <a:off x="640080" y="457200"/>
            <a:ext cx="108806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600" spc="-1" strike="noStrike">
                <a:solidFill>
                  <a:srgbClr val="3654e0"/>
                </a:solidFill>
                <a:latin typeface="Cambria"/>
                <a:ea typeface="Cambria"/>
              </a:rPr>
              <a:t>Main Project: Business Perspective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64" name="Shape 1"/>
          <p:cNvSpPr/>
          <p:nvPr/>
        </p:nvSpPr>
        <p:spPr>
          <a:xfrm>
            <a:off x="640080" y="1417320"/>
            <a:ext cx="328320" cy="328320"/>
          </a:xfrm>
          <a:prstGeom prst="ellipse">
            <a:avLst/>
          </a:prstGeom>
          <a:solidFill>
            <a:srgbClr val="3654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Text 2"/>
          <p:cNvSpPr/>
          <p:nvPr/>
        </p:nvSpPr>
        <p:spPr>
          <a:xfrm>
            <a:off x="640080" y="141732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66" name="Text 3"/>
          <p:cNvSpPr/>
          <p:nvPr/>
        </p:nvSpPr>
        <p:spPr>
          <a:xfrm>
            <a:off x="1097280" y="1380600"/>
            <a:ext cx="48456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101828"/>
                </a:solidFill>
                <a:latin typeface="Cambria"/>
                <a:ea typeface="Cambria"/>
              </a:rPr>
              <a:t>Problem Statement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7" name="Shape 4"/>
          <p:cNvSpPr/>
          <p:nvPr/>
        </p:nvSpPr>
        <p:spPr>
          <a:xfrm>
            <a:off x="640080" y="1965960"/>
            <a:ext cx="5302800" cy="4434120"/>
          </a:xfrm>
          <a:prstGeom prst="roundRect">
            <a:avLst>
              <a:gd name="adj" fmla="val 2474"/>
            </a:avLst>
          </a:prstGeom>
          <a:solidFill>
            <a:srgbClr val="f6f7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Text 5"/>
          <p:cNvSpPr/>
          <p:nvPr/>
        </p:nvSpPr>
        <p:spPr>
          <a:xfrm>
            <a:off x="914400" y="224028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77840" indent="-177840">
              <a:lnSpc>
                <a:spcPct val="100000"/>
              </a:lnSpc>
              <a:spcAft>
                <a:spcPts val="1400"/>
              </a:spcAft>
              <a:buClr>
                <a:srgbClr val="5b6472"/>
              </a:buClr>
              <a:buFont typeface="StarSymbol"/>
              <a:buChar char="▪"/>
            </a:pPr>
            <a:r>
              <a:rPr b="0" lang="en-US" sz="1250" spc="-1" strike="noStrike">
                <a:solidFill>
                  <a:srgbClr val="5b6472"/>
                </a:solidFill>
                <a:latin typeface="Calibri"/>
                <a:ea typeface="Calibri"/>
              </a:rPr>
              <a:t>Money transfers between users and digital top-ups are still scattered across many different e-wallet apps, without a single, clear transaction history.</a:t>
            </a:r>
            <a:endParaRPr b="0" lang="en-US" sz="1250" spc="-1" strike="noStrike">
              <a:latin typeface="Arial"/>
            </a:endParaRPr>
          </a:p>
          <a:p>
            <a:pPr marL="177840" indent="-177840">
              <a:lnSpc>
                <a:spcPct val="100000"/>
              </a:lnSpc>
              <a:spcAft>
                <a:spcPts val="1400"/>
              </a:spcAft>
              <a:buClr>
                <a:srgbClr val="5b6472"/>
              </a:buClr>
              <a:buFont typeface="StarSymbol"/>
              <a:buChar char="▪"/>
            </a:pPr>
            <a:r>
              <a:rPr b="0" lang="en-US" sz="1250" spc="-1" strike="noStrike">
                <a:solidFill>
                  <a:srgbClr val="5b6472"/>
                </a:solidFill>
                <a:latin typeface="Calibri"/>
                <a:ea typeface="Calibri"/>
              </a:rPr>
              <a:t>Who's affected: individuals who just need a lightweight wallet for small balances, without opening a full bank account.</a:t>
            </a:r>
            <a:endParaRPr b="0" lang="en-US" sz="1250" spc="-1" strike="noStrike">
              <a:latin typeface="Arial"/>
            </a:endParaRPr>
          </a:p>
          <a:p>
            <a:pPr marL="177840" indent="-177840">
              <a:lnSpc>
                <a:spcPct val="100000"/>
              </a:lnSpc>
              <a:spcAft>
                <a:spcPts val="1400"/>
              </a:spcAft>
              <a:buClr>
                <a:srgbClr val="5b6472"/>
              </a:buClr>
              <a:buFont typeface="StarSymbol"/>
              <a:buChar char="▪"/>
            </a:pPr>
            <a:r>
              <a:rPr b="0" lang="en-US" sz="1250" spc="-1" strike="noStrike">
                <a:solidFill>
                  <a:srgbClr val="5b6472"/>
                </a:solidFill>
                <a:latin typeface="Calibri"/>
                <a:ea typeface="Calibri"/>
              </a:rPr>
              <a:t>Without this solution: users stay dependent on manual bank transfers or jumping between apps, prone to record-keeping errors with no consistent proof of transaction status.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69" name="Shape 6"/>
          <p:cNvSpPr/>
          <p:nvPr/>
        </p:nvSpPr>
        <p:spPr>
          <a:xfrm>
            <a:off x="6263640" y="1417320"/>
            <a:ext cx="328320" cy="328320"/>
          </a:xfrm>
          <a:prstGeom prst="ellipse">
            <a:avLst/>
          </a:prstGeom>
          <a:solidFill>
            <a:srgbClr val="3654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Text 7"/>
          <p:cNvSpPr/>
          <p:nvPr/>
        </p:nvSpPr>
        <p:spPr>
          <a:xfrm>
            <a:off x="6263640" y="141732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71" name="Text 8"/>
          <p:cNvSpPr/>
          <p:nvPr/>
        </p:nvSpPr>
        <p:spPr>
          <a:xfrm>
            <a:off x="6720840" y="1380600"/>
            <a:ext cx="48456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101828"/>
                </a:solidFill>
                <a:latin typeface="Cambria"/>
                <a:ea typeface="Cambria"/>
              </a:rPr>
              <a:t>Target User &amp; Value Proposition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2" name="Shape 9"/>
          <p:cNvSpPr/>
          <p:nvPr/>
        </p:nvSpPr>
        <p:spPr>
          <a:xfrm>
            <a:off x="6263640" y="1965960"/>
            <a:ext cx="5302800" cy="4434120"/>
          </a:xfrm>
          <a:prstGeom prst="roundRect">
            <a:avLst>
              <a:gd name="adj" fmla="val 2474"/>
            </a:avLst>
          </a:prstGeom>
          <a:solidFill>
            <a:srgbClr val="f6f7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Text 10"/>
          <p:cNvSpPr/>
          <p:nvPr/>
        </p:nvSpPr>
        <p:spPr>
          <a:xfrm>
            <a:off x="6537960" y="2194560"/>
            <a:ext cx="4754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101828"/>
                </a:solidFill>
                <a:latin typeface="Calibri"/>
                <a:ea typeface="Calibri"/>
              </a:rPr>
              <a:t>Target user (short persona)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74" name="Text 11"/>
          <p:cNvSpPr/>
          <p:nvPr/>
        </p:nvSpPr>
        <p:spPr>
          <a:xfrm>
            <a:off x="6537960" y="2487240"/>
            <a:ext cx="47541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b6472"/>
                </a:solidFill>
                <a:latin typeface="Calibri"/>
                <a:ea typeface="Calibri"/>
              </a:rPr>
              <a:t>Digital-native users comfortable with cashless payments who want to send money as fast as sending a chat message — just an email or phone number needed.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5" name="Text 12"/>
          <p:cNvSpPr/>
          <p:nvPr/>
        </p:nvSpPr>
        <p:spPr>
          <a:xfrm>
            <a:off x="6537960" y="3291840"/>
            <a:ext cx="4754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101828"/>
                </a:solidFill>
                <a:latin typeface="Calibri"/>
                <a:ea typeface="Calibri"/>
              </a:rPr>
              <a:t>Main pain point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76" name="Text 13"/>
          <p:cNvSpPr/>
          <p:nvPr/>
        </p:nvSpPr>
        <p:spPr>
          <a:xfrm>
            <a:off x="6537960" y="3584520"/>
            <a:ext cx="47541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b6472"/>
                </a:solidFill>
                <a:latin typeface="Calibri"/>
                <a:ea typeface="Calibri"/>
              </a:rPr>
              <a:t>Reluctant to install a full banking app just to hold a small balance; manual transfers require an account number and manual confirmation.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7" name="Text 14"/>
          <p:cNvSpPr/>
          <p:nvPr/>
        </p:nvSpPr>
        <p:spPr>
          <a:xfrm>
            <a:off x="6537960" y="4389120"/>
            <a:ext cx="4754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101828"/>
                </a:solidFill>
                <a:latin typeface="Calibri"/>
                <a:ea typeface="Calibri"/>
              </a:rPr>
              <a:t>Dompi's unique value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78" name="Text 15"/>
          <p:cNvSpPr/>
          <p:nvPr/>
        </p:nvSpPr>
        <p:spPr>
          <a:xfrm>
            <a:off x="6537960" y="4681800"/>
            <a:ext cx="4754160" cy="164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77840" indent="-177840">
              <a:lnSpc>
                <a:spcPct val="100000"/>
              </a:lnSpc>
              <a:spcAft>
                <a:spcPts val="601"/>
              </a:spcAft>
              <a:buClr>
                <a:srgbClr val="5b6472"/>
              </a:buClr>
              <a:buFont typeface="StarSymbol"/>
              <a:buChar char="▪"/>
            </a:pPr>
            <a:r>
              <a:rPr b="0" lang="en-US" sz="1180" spc="-1" strike="noStrike">
                <a:solidFill>
                  <a:srgbClr val="5b6472"/>
                </a:solidFill>
                <a:latin typeface="Calibri"/>
                <a:ea typeface="Calibri"/>
              </a:rPr>
              <a:t>Direct top-up via Midtrans Snap (VA, e-wallet, QRIS)</a:t>
            </a:r>
            <a:endParaRPr b="0" lang="en-US" sz="1180" spc="-1" strike="noStrike">
              <a:latin typeface="Arial"/>
            </a:endParaRPr>
          </a:p>
          <a:p>
            <a:pPr marL="177840" indent="-177840">
              <a:lnSpc>
                <a:spcPct val="100000"/>
              </a:lnSpc>
              <a:spcAft>
                <a:spcPts val="601"/>
              </a:spcAft>
              <a:buClr>
                <a:srgbClr val="5b6472"/>
              </a:buClr>
              <a:buFont typeface="StarSymbol"/>
              <a:buChar char="▪"/>
            </a:pPr>
            <a:r>
              <a:rPr b="0" lang="en-US" sz="1180" spc="-1" strike="noStrike">
                <a:solidFill>
                  <a:srgbClr val="5b6472"/>
                </a:solidFill>
                <a:latin typeface="Calibri"/>
                <a:ea typeface="Calibri"/>
              </a:rPr>
              <a:t>Transfer using just an email/phone number, not a wallet ID</a:t>
            </a:r>
            <a:endParaRPr b="0" lang="en-US" sz="1180" spc="-1" strike="noStrike">
              <a:latin typeface="Arial"/>
            </a:endParaRPr>
          </a:p>
          <a:p>
            <a:pPr marL="177840" indent="-177840">
              <a:lnSpc>
                <a:spcPct val="100000"/>
              </a:lnSpc>
              <a:spcAft>
                <a:spcPts val="601"/>
              </a:spcAft>
              <a:buClr>
                <a:srgbClr val="5b6472"/>
              </a:buClr>
              <a:buFont typeface="StarSymbol"/>
              <a:buChar char="▪"/>
            </a:pPr>
            <a:r>
              <a:rPr b="0" lang="en-US" sz="1180" spc="-1" strike="noStrike">
                <a:solidFill>
                  <a:srgbClr val="5b6472"/>
                </a:solidFill>
                <a:latin typeface="Calibri"/>
                <a:ea typeface="Calibri"/>
              </a:rPr>
              <a:t>Transparent, real-time transaction history &amp; status</a:t>
            </a:r>
            <a:endParaRPr b="0" lang="en-US" sz="1180" spc="-1" strike="noStrike">
              <a:latin typeface="Arial"/>
            </a:endParaRPr>
          </a:p>
        </p:txBody>
      </p:sp>
      <p:sp>
        <p:nvSpPr>
          <p:cNvPr id="79" name="Text 16"/>
          <p:cNvSpPr/>
          <p:nvPr/>
        </p:nvSpPr>
        <p:spPr>
          <a:xfrm>
            <a:off x="11457360" y="644652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5b6472"/>
                </a:solidFill>
                <a:latin typeface="Calibri"/>
                <a:ea typeface="Calibri"/>
              </a:rPr>
              <a:t>04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 0"/>
          <p:cNvSpPr/>
          <p:nvPr/>
        </p:nvSpPr>
        <p:spPr>
          <a:xfrm>
            <a:off x="640080" y="502920"/>
            <a:ext cx="91432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Cambria"/>
                <a:ea typeface="Cambria"/>
              </a:rPr>
              <a:t>App / Web Based View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81" name="Shape 1"/>
          <p:cNvSpPr/>
          <p:nvPr/>
        </p:nvSpPr>
        <p:spPr>
          <a:xfrm>
            <a:off x="822960" y="1554480"/>
            <a:ext cx="5119920" cy="4571280"/>
          </a:xfrm>
          <a:prstGeom prst="roundRect">
            <a:avLst>
              <a:gd name="adj" fmla="val 2000"/>
            </a:avLst>
          </a:prstGeom>
          <a:solidFill>
            <a:srgbClr val="f6f7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Shape 2"/>
          <p:cNvSpPr/>
          <p:nvPr/>
        </p:nvSpPr>
        <p:spPr>
          <a:xfrm>
            <a:off x="822960" y="1554480"/>
            <a:ext cx="5119920" cy="45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Text 3"/>
          <p:cNvSpPr/>
          <p:nvPr/>
        </p:nvSpPr>
        <p:spPr>
          <a:xfrm>
            <a:off x="1051560" y="1554480"/>
            <a:ext cx="1828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01828"/>
                </a:solidFill>
                <a:latin typeface="Cambria"/>
                <a:ea typeface="Cambria"/>
              </a:rPr>
              <a:t>Dompi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4" name="Shape 4"/>
          <p:cNvSpPr/>
          <p:nvPr/>
        </p:nvSpPr>
        <p:spPr>
          <a:xfrm>
            <a:off x="1097280" y="2240280"/>
            <a:ext cx="4571280" cy="1370880"/>
          </a:xfrm>
          <a:prstGeom prst="roundRect">
            <a:avLst>
              <a:gd name="adj" fmla="val 9333"/>
            </a:avLst>
          </a:prstGeom>
          <a:solidFill>
            <a:srgbClr val="101828"/>
          </a:solidFill>
          <a:ln w="0">
            <a:noFill/>
          </a:ln>
          <a:effectLst>
            <a:outerShdw algn="bl" blurRad="152280" dir="5400000" dist="507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5" name="Text 5"/>
          <p:cNvSpPr/>
          <p:nvPr/>
        </p:nvSpPr>
        <p:spPr>
          <a:xfrm>
            <a:off x="1325880" y="242316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aa5b8"/>
                </a:solidFill>
                <a:latin typeface="Calibri"/>
                <a:ea typeface="Calibri"/>
              </a:rPr>
              <a:t>Your Balance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6" name="Text 6"/>
          <p:cNvSpPr/>
          <p:nvPr/>
        </p:nvSpPr>
        <p:spPr>
          <a:xfrm>
            <a:off x="1280160" y="2651760"/>
            <a:ext cx="31996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mbria"/>
                <a:ea typeface="Cambria"/>
              </a:rPr>
              <a:t>Rp 250,000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87" name="Shape 7"/>
          <p:cNvSpPr/>
          <p:nvPr/>
        </p:nvSpPr>
        <p:spPr>
          <a:xfrm>
            <a:off x="1325880" y="3291840"/>
            <a:ext cx="1462320" cy="291960"/>
          </a:xfrm>
          <a:prstGeom prst="roundRect">
            <a:avLst>
              <a:gd name="adj" fmla="val 18750"/>
            </a:avLst>
          </a:prstGeom>
          <a:solidFill>
            <a:srgbClr val="3654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8" name="Text 8"/>
          <p:cNvSpPr/>
          <p:nvPr/>
        </p:nvSpPr>
        <p:spPr>
          <a:xfrm>
            <a:off x="1325880" y="3291840"/>
            <a:ext cx="14623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Top Up Balance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9" name="Text 9"/>
          <p:cNvSpPr/>
          <p:nvPr/>
        </p:nvSpPr>
        <p:spPr>
          <a:xfrm>
            <a:off x="1097280" y="388620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101828"/>
                </a:solidFill>
                <a:latin typeface="Calibri"/>
                <a:ea typeface="Calibri"/>
              </a:rPr>
              <a:t>Transaction History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90" name="Shape 10"/>
          <p:cNvSpPr/>
          <p:nvPr/>
        </p:nvSpPr>
        <p:spPr>
          <a:xfrm>
            <a:off x="1097280" y="4636080"/>
            <a:ext cx="4571280" cy="8280"/>
          </a:xfrm>
          <a:prstGeom prst="rect">
            <a:avLst/>
          </a:prstGeom>
          <a:solidFill>
            <a:srgbClr val="e4e7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Text 11"/>
          <p:cNvSpPr/>
          <p:nvPr/>
        </p:nvSpPr>
        <p:spPr>
          <a:xfrm>
            <a:off x="1097280" y="4251960"/>
            <a:ext cx="1828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101828"/>
                </a:solidFill>
                <a:latin typeface="Calibri"/>
                <a:ea typeface="Calibri"/>
              </a:rPr>
              <a:t>Top Up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92" name="Text 12"/>
          <p:cNvSpPr/>
          <p:nvPr/>
        </p:nvSpPr>
        <p:spPr>
          <a:xfrm>
            <a:off x="2926080" y="4251960"/>
            <a:ext cx="14623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12875b"/>
                </a:solidFill>
                <a:latin typeface="Calibri"/>
                <a:ea typeface="Calibri"/>
              </a:rPr>
              <a:t>+Rp 25,000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93" name="Shape 13"/>
          <p:cNvSpPr/>
          <p:nvPr/>
        </p:nvSpPr>
        <p:spPr>
          <a:xfrm>
            <a:off x="4480560" y="4325040"/>
            <a:ext cx="1005120" cy="236880"/>
          </a:xfrm>
          <a:prstGeom prst="roundRect">
            <a:avLst>
              <a:gd name="adj" fmla="val 50000"/>
            </a:avLst>
          </a:prstGeom>
          <a:solidFill>
            <a:srgbClr val="e7f6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Text 14"/>
          <p:cNvSpPr/>
          <p:nvPr/>
        </p:nvSpPr>
        <p:spPr>
          <a:xfrm>
            <a:off x="4480560" y="4325040"/>
            <a:ext cx="10051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50" spc="-1" strike="noStrike">
                <a:solidFill>
                  <a:srgbClr val="12875b"/>
                </a:solidFill>
                <a:latin typeface="Calibri"/>
                <a:ea typeface="Calibri"/>
              </a:rPr>
              <a:t>Success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95" name="Shape 15"/>
          <p:cNvSpPr/>
          <p:nvPr/>
        </p:nvSpPr>
        <p:spPr>
          <a:xfrm>
            <a:off x="1097280" y="5139000"/>
            <a:ext cx="4571280" cy="8280"/>
          </a:xfrm>
          <a:prstGeom prst="rect">
            <a:avLst/>
          </a:prstGeom>
          <a:solidFill>
            <a:srgbClr val="e4e7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Text 16"/>
          <p:cNvSpPr/>
          <p:nvPr/>
        </p:nvSpPr>
        <p:spPr>
          <a:xfrm>
            <a:off x="1097280" y="4754880"/>
            <a:ext cx="1828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101828"/>
                </a:solidFill>
                <a:latin typeface="Calibri"/>
                <a:ea typeface="Calibri"/>
              </a:rPr>
              <a:t>Transfer Out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97" name="Text 17"/>
          <p:cNvSpPr/>
          <p:nvPr/>
        </p:nvSpPr>
        <p:spPr>
          <a:xfrm>
            <a:off x="2926080" y="4754880"/>
            <a:ext cx="14623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d23b3b"/>
                </a:solidFill>
                <a:latin typeface="Calibri"/>
                <a:ea typeface="Calibri"/>
              </a:rPr>
              <a:t>-Rp 10,000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98" name="Shape 18"/>
          <p:cNvSpPr/>
          <p:nvPr/>
        </p:nvSpPr>
        <p:spPr>
          <a:xfrm>
            <a:off x="4480560" y="4827960"/>
            <a:ext cx="1005120" cy="236880"/>
          </a:xfrm>
          <a:prstGeom prst="roundRect">
            <a:avLst>
              <a:gd name="adj" fmla="val 50000"/>
            </a:avLst>
          </a:prstGeom>
          <a:solidFill>
            <a:srgbClr val="e7f6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Text 19"/>
          <p:cNvSpPr/>
          <p:nvPr/>
        </p:nvSpPr>
        <p:spPr>
          <a:xfrm>
            <a:off x="4480560" y="4827960"/>
            <a:ext cx="10051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50" spc="-1" strike="noStrike">
                <a:solidFill>
                  <a:srgbClr val="12875b"/>
                </a:solidFill>
                <a:latin typeface="Calibri"/>
                <a:ea typeface="Calibri"/>
              </a:rPr>
              <a:t>Success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100" name="Shape 20"/>
          <p:cNvSpPr/>
          <p:nvPr/>
        </p:nvSpPr>
        <p:spPr>
          <a:xfrm>
            <a:off x="1097280" y="5641920"/>
            <a:ext cx="4571280" cy="8280"/>
          </a:xfrm>
          <a:prstGeom prst="rect">
            <a:avLst/>
          </a:prstGeom>
          <a:solidFill>
            <a:srgbClr val="e4e7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Text 21"/>
          <p:cNvSpPr/>
          <p:nvPr/>
        </p:nvSpPr>
        <p:spPr>
          <a:xfrm>
            <a:off x="1097280" y="5257800"/>
            <a:ext cx="1828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101828"/>
                </a:solidFill>
                <a:latin typeface="Calibri"/>
                <a:ea typeface="Calibri"/>
              </a:rPr>
              <a:t>Top Up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02" name="Text 22"/>
          <p:cNvSpPr/>
          <p:nvPr/>
        </p:nvSpPr>
        <p:spPr>
          <a:xfrm>
            <a:off x="2926080" y="5257800"/>
            <a:ext cx="14623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12875b"/>
                </a:solidFill>
                <a:latin typeface="Calibri"/>
                <a:ea typeface="Calibri"/>
              </a:rPr>
              <a:t>+Rp 50,000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03" name="Shape 23"/>
          <p:cNvSpPr/>
          <p:nvPr/>
        </p:nvSpPr>
        <p:spPr>
          <a:xfrm>
            <a:off x="4480560" y="5330880"/>
            <a:ext cx="1005120" cy="236880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Text 24"/>
          <p:cNvSpPr/>
          <p:nvPr/>
        </p:nvSpPr>
        <p:spPr>
          <a:xfrm>
            <a:off x="4480560" y="5330880"/>
            <a:ext cx="10051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50" spc="-1" strike="noStrike">
                <a:solidFill>
                  <a:srgbClr val="b5790a"/>
                </a:solidFill>
                <a:latin typeface="Calibri"/>
                <a:ea typeface="Calibri"/>
              </a:rPr>
              <a:t>Processing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105" name="Text 25"/>
          <p:cNvSpPr/>
          <p:nvPr/>
        </p:nvSpPr>
        <p:spPr>
          <a:xfrm>
            <a:off x="822960" y="6263640"/>
            <a:ext cx="5119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c7cedd"/>
                </a:solidFill>
                <a:latin typeface="Calibri"/>
                <a:ea typeface="Calibri"/>
              </a:rPr>
              <a:t>User View — Dashboard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06" name="Shape 26"/>
          <p:cNvSpPr/>
          <p:nvPr/>
        </p:nvSpPr>
        <p:spPr>
          <a:xfrm>
            <a:off x="6263640" y="1554480"/>
            <a:ext cx="5119920" cy="4571280"/>
          </a:xfrm>
          <a:prstGeom prst="roundRect">
            <a:avLst>
              <a:gd name="adj" fmla="val 2000"/>
            </a:avLst>
          </a:prstGeom>
          <a:solidFill>
            <a:srgbClr val="f6f7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Shape 27"/>
          <p:cNvSpPr/>
          <p:nvPr/>
        </p:nvSpPr>
        <p:spPr>
          <a:xfrm>
            <a:off x="6263640" y="1554480"/>
            <a:ext cx="5119920" cy="45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Text 28"/>
          <p:cNvSpPr/>
          <p:nvPr/>
        </p:nvSpPr>
        <p:spPr>
          <a:xfrm>
            <a:off x="6492240" y="1554480"/>
            <a:ext cx="3656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01828"/>
                </a:solidFill>
                <a:latin typeface="Cambria"/>
                <a:ea typeface="Cambria"/>
              </a:rPr>
              <a:t>Dompi — User Management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09" name="Text 29"/>
          <p:cNvSpPr/>
          <p:nvPr/>
        </p:nvSpPr>
        <p:spPr>
          <a:xfrm>
            <a:off x="6537960" y="2148840"/>
            <a:ext cx="1279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5b6472"/>
                </a:solidFill>
                <a:latin typeface="Calibri"/>
                <a:ea typeface="Calibri"/>
              </a:rPr>
              <a:t>Name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10" name="Text 30"/>
          <p:cNvSpPr/>
          <p:nvPr/>
        </p:nvSpPr>
        <p:spPr>
          <a:xfrm>
            <a:off x="8823960" y="2148840"/>
            <a:ext cx="1279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5b6472"/>
                </a:solidFill>
                <a:latin typeface="Calibri"/>
                <a:ea typeface="Calibri"/>
              </a:rPr>
              <a:t>Role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11" name="Text 31"/>
          <p:cNvSpPr/>
          <p:nvPr/>
        </p:nvSpPr>
        <p:spPr>
          <a:xfrm>
            <a:off x="9829800" y="2148840"/>
            <a:ext cx="1279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5b6472"/>
                </a:solidFill>
                <a:latin typeface="Calibri"/>
                <a:ea typeface="Calibri"/>
              </a:rPr>
              <a:t>Status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12" name="Shape 32"/>
          <p:cNvSpPr/>
          <p:nvPr/>
        </p:nvSpPr>
        <p:spPr>
          <a:xfrm>
            <a:off x="6537960" y="2862000"/>
            <a:ext cx="4571280" cy="8280"/>
          </a:xfrm>
          <a:prstGeom prst="rect">
            <a:avLst/>
          </a:prstGeom>
          <a:solidFill>
            <a:srgbClr val="e4e7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Text 33"/>
          <p:cNvSpPr/>
          <p:nvPr/>
        </p:nvSpPr>
        <p:spPr>
          <a:xfrm>
            <a:off x="6537960" y="2514600"/>
            <a:ext cx="20109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101828"/>
                </a:solidFill>
                <a:latin typeface="Calibri"/>
                <a:ea typeface="Calibri"/>
              </a:rPr>
              <a:t>User 1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14" name="Text 34"/>
          <p:cNvSpPr/>
          <p:nvPr/>
        </p:nvSpPr>
        <p:spPr>
          <a:xfrm>
            <a:off x="8823960" y="2514600"/>
            <a:ext cx="9136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5b6472"/>
                </a:solidFill>
                <a:latin typeface="Calibri"/>
                <a:ea typeface="Calibri"/>
              </a:rPr>
              <a:t>USER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15" name="Shape 35"/>
          <p:cNvSpPr/>
          <p:nvPr/>
        </p:nvSpPr>
        <p:spPr>
          <a:xfrm>
            <a:off x="9829800" y="2569320"/>
            <a:ext cx="913680" cy="218880"/>
          </a:xfrm>
          <a:prstGeom prst="roundRect">
            <a:avLst>
              <a:gd name="adj" fmla="val 50000"/>
            </a:avLst>
          </a:prstGeom>
          <a:solidFill>
            <a:srgbClr val="e7f6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Text 36"/>
          <p:cNvSpPr/>
          <p:nvPr/>
        </p:nvSpPr>
        <p:spPr>
          <a:xfrm>
            <a:off x="9829800" y="2569320"/>
            <a:ext cx="913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12875b"/>
                </a:solidFill>
                <a:latin typeface="Calibri"/>
                <a:ea typeface="Calibri"/>
              </a:rPr>
              <a:t>Active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17" name="Shape 37"/>
          <p:cNvSpPr/>
          <p:nvPr/>
        </p:nvSpPr>
        <p:spPr>
          <a:xfrm>
            <a:off x="6537960" y="3319200"/>
            <a:ext cx="4571280" cy="8280"/>
          </a:xfrm>
          <a:prstGeom prst="rect">
            <a:avLst/>
          </a:prstGeom>
          <a:solidFill>
            <a:srgbClr val="e4e7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Text 38"/>
          <p:cNvSpPr/>
          <p:nvPr/>
        </p:nvSpPr>
        <p:spPr>
          <a:xfrm>
            <a:off x="6537960" y="2971800"/>
            <a:ext cx="20109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101828"/>
                </a:solidFill>
                <a:latin typeface="Calibri"/>
                <a:ea typeface="Calibri"/>
              </a:rPr>
              <a:t>User 2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19" name="Text 39"/>
          <p:cNvSpPr/>
          <p:nvPr/>
        </p:nvSpPr>
        <p:spPr>
          <a:xfrm>
            <a:off x="8823960" y="2971800"/>
            <a:ext cx="9136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5b6472"/>
                </a:solidFill>
                <a:latin typeface="Calibri"/>
                <a:ea typeface="Calibri"/>
              </a:rPr>
              <a:t>USER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20" name="Shape 40"/>
          <p:cNvSpPr/>
          <p:nvPr/>
        </p:nvSpPr>
        <p:spPr>
          <a:xfrm>
            <a:off x="9829800" y="3026520"/>
            <a:ext cx="913680" cy="218880"/>
          </a:xfrm>
          <a:prstGeom prst="roundRect">
            <a:avLst>
              <a:gd name="adj" fmla="val 50000"/>
            </a:avLst>
          </a:prstGeom>
          <a:solidFill>
            <a:srgbClr val="e7f6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Text 41"/>
          <p:cNvSpPr/>
          <p:nvPr/>
        </p:nvSpPr>
        <p:spPr>
          <a:xfrm>
            <a:off x="9829800" y="3026520"/>
            <a:ext cx="913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12875b"/>
                </a:solidFill>
                <a:latin typeface="Calibri"/>
                <a:ea typeface="Calibri"/>
              </a:rPr>
              <a:t>Active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22" name="Shape 42"/>
          <p:cNvSpPr/>
          <p:nvPr/>
        </p:nvSpPr>
        <p:spPr>
          <a:xfrm>
            <a:off x="6537960" y="3776400"/>
            <a:ext cx="4571280" cy="8280"/>
          </a:xfrm>
          <a:prstGeom prst="rect">
            <a:avLst/>
          </a:prstGeom>
          <a:solidFill>
            <a:srgbClr val="e4e7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Text 43"/>
          <p:cNvSpPr/>
          <p:nvPr/>
        </p:nvSpPr>
        <p:spPr>
          <a:xfrm>
            <a:off x="6537960" y="3429000"/>
            <a:ext cx="20109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101828"/>
                </a:solidFill>
                <a:latin typeface="Calibri"/>
                <a:ea typeface="Calibri"/>
              </a:rPr>
              <a:t>Admin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24" name="Text 44"/>
          <p:cNvSpPr/>
          <p:nvPr/>
        </p:nvSpPr>
        <p:spPr>
          <a:xfrm>
            <a:off x="8823960" y="3429000"/>
            <a:ext cx="9136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5b6472"/>
                </a:solidFill>
                <a:latin typeface="Calibri"/>
                <a:ea typeface="Calibri"/>
              </a:rPr>
              <a:t>ADMIN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25" name="Shape 45"/>
          <p:cNvSpPr/>
          <p:nvPr/>
        </p:nvSpPr>
        <p:spPr>
          <a:xfrm>
            <a:off x="9829800" y="3483720"/>
            <a:ext cx="913680" cy="218880"/>
          </a:xfrm>
          <a:prstGeom prst="roundRect">
            <a:avLst>
              <a:gd name="adj" fmla="val 50000"/>
            </a:avLst>
          </a:prstGeom>
          <a:solidFill>
            <a:srgbClr val="e7f6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Text 46"/>
          <p:cNvSpPr/>
          <p:nvPr/>
        </p:nvSpPr>
        <p:spPr>
          <a:xfrm>
            <a:off x="9829800" y="3483720"/>
            <a:ext cx="913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12875b"/>
                </a:solidFill>
                <a:latin typeface="Calibri"/>
                <a:ea typeface="Calibri"/>
              </a:rPr>
              <a:t>Active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27" name="Shape 47"/>
          <p:cNvSpPr/>
          <p:nvPr/>
        </p:nvSpPr>
        <p:spPr>
          <a:xfrm>
            <a:off x="6537960" y="4233600"/>
            <a:ext cx="4571280" cy="8280"/>
          </a:xfrm>
          <a:prstGeom prst="rect">
            <a:avLst/>
          </a:prstGeom>
          <a:solidFill>
            <a:srgbClr val="e4e7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Text 48"/>
          <p:cNvSpPr/>
          <p:nvPr/>
        </p:nvSpPr>
        <p:spPr>
          <a:xfrm>
            <a:off x="6537960" y="3886200"/>
            <a:ext cx="20109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101828"/>
                </a:solidFill>
                <a:latin typeface="Calibri"/>
                <a:ea typeface="Calibri"/>
              </a:rPr>
              <a:t>User 7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29" name="Text 49"/>
          <p:cNvSpPr/>
          <p:nvPr/>
        </p:nvSpPr>
        <p:spPr>
          <a:xfrm>
            <a:off x="8823960" y="3886200"/>
            <a:ext cx="9136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5b6472"/>
                </a:solidFill>
                <a:latin typeface="Calibri"/>
                <a:ea typeface="Calibri"/>
              </a:rPr>
              <a:t>USER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30" name="Shape 50"/>
          <p:cNvSpPr/>
          <p:nvPr/>
        </p:nvSpPr>
        <p:spPr>
          <a:xfrm>
            <a:off x="9829800" y="3940920"/>
            <a:ext cx="913680" cy="218880"/>
          </a:xfrm>
          <a:prstGeom prst="roundRect">
            <a:avLst>
              <a:gd name="adj" fmla="val 50000"/>
            </a:avLst>
          </a:prstGeom>
          <a:solidFill>
            <a:srgbClr val="fbea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Text 51"/>
          <p:cNvSpPr/>
          <p:nvPr/>
        </p:nvSpPr>
        <p:spPr>
          <a:xfrm>
            <a:off x="9829800" y="3940920"/>
            <a:ext cx="913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d23b3b"/>
                </a:solidFill>
                <a:latin typeface="Calibri"/>
                <a:ea typeface="Calibri"/>
              </a:rPr>
              <a:t>Inactive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32" name="Text 52"/>
          <p:cNvSpPr/>
          <p:nvPr/>
        </p:nvSpPr>
        <p:spPr>
          <a:xfrm>
            <a:off x="6537960" y="452628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101828"/>
                </a:solidFill>
                <a:latin typeface="Calibri"/>
                <a:ea typeface="Calibri"/>
              </a:rPr>
              <a:t>User Transaction Activity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133" name="Text 53"/>
          <p:cNvSpPr/>
          <p:nvPr/>
        </p:nvSpPr>
        <p:spPr>
          <a:xfrm>
            <a:off x="6537960" y="489204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b6472"/>
                </a:solidFill>
                <a:latin typeface="Calibri"/>
                <a:ea typeface="Calibri"/>
              </a:rPr>
              <a:t>User 1 → User 2   Rp 10,000   Success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34" name="Text 54"/>
          <p:cNvSpPr/>
          <p:nvPr/>
        </p:nvSpPr>
        <p:spPr>
          <a:xfrm>
            <a:off x="6537960" y="518472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b6472"/>
                </a:solidFill>
                <a:latin typeface="Calibri"/>
                <a:ea typeface="Calibri"/>
              </a:rPr>
              <a:t>User 3 Top Up   Rp 25,000   Processing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35" name="Text 55"/>
          <p:cNvSpPr/>
          <p:nvPr/>
        </p:nvSpPr>
        <p:spPr>
          <a:xfrm>
            <a:off x="6263640" y="6263640"/>
            <a:ext cx="5119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c7cedd"/>
                </a:solidFill>
                <a:latin typeface="Calibri"/>
                <a:ea typeface="Calibri"/>
              </a:rPr>
              <a:t>Admin View — Monitoring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36" name="Text 56"/>
          <p:cNvSpPr/>
          <p:nvPr/>
        </p:nvSpPr>
        <p:spPr>
          <a:xfrm>
            <a:off x="11457360" y="644652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5b6472"/>
                </a:solidFill>
                <a:latin typeface="Calibri"/>
                <a:ea typeface="Calibri"/>
              </a:rPr>
              <a:t>06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654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0"/>
          <p:cNvSpPr/>
          <p:nvPr/>
        </p:nvSpPr>
        <p:spPr>
          <a:xfrm>
            <a:off x="9326880" y="-1097280"/>
            <a:ext cx="4571280" cy="4571280"/>
          </a:xfrm>
          <a:prstGeom prst="roundRect">
            <a:avLst>
              <a:gd name="adj" fmla="val 50000"/>
            </a:avLst>
          </a:prstGeom>
          <a:solidFill>
            <a:srgbClr val="2a41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Shape 1"/>
          <p:cNvSpPr/>
          <p:nvPr/>
        </p:nvSpPr>
        <p:spPr>
          <a:xfrm>
            <a:off x="10607040" y="3931920"/>
            <a:ext cx="3291120" cy="3291120"/>
          </a:xfrm>
          <a:prstGeom prst="roundRect">
            <a:avLst>
              <a:gd name="adj" fmla="val 50000"/>
            </a:avLst>
          </a:prstGeom>
          <a:solidFill>
            <a:srgbClr val="2a41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Text 2"/>
          <p:cNvSpPr/>
          <p:nvPr/>
        </p:nvSpPr>
        <p:spPr>
          <a:xfrm>
            <a:off x="822960" y="137160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296" strike="noStrike">
                <a:solidFill>
                  <a:srgbClr val="c7cedd"/>
                </a:solidFill>
                <a:latin typeface="Calibri"/>
                <a:ea typeface="Calibri"/>
              </a:rPr>
              <a:t>MAIN PROJECT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40" name="Text 3"/>
          <p:cNvSpPr/>
          <p:nvPr/>
        </p:nvSpPr>
        <p:spPr>
          <a:xfrm>
            <a:off x="777240" y="1737360"/>
            <a:ext cx="694872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solidFill>
                  <a:srgbClr val="ffffff"/>
                </a:solidFill>
                <a:latin typeface="Cambria"/>
                <a:ea typeface="Cambria"/>
              </a:rPr>
              <a:t>Technical</a:t>
            </a:r>
            <a:endParaRPr b="0" lang="en-US" sz="4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solidFill>
                  <a:srgbClr val="ffffff"/>
                </a:solidFill>
                <a:latin typeface="Cambria"/>
                <a:ea typeface="Cambria"/>
              </a:rPr>
              <a:t>Depth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141" name="Text 4"/>
          <p:cNvSpPr/>
          <p:nvPr/>
        </p:nvSpPr>
        <p:spPr>
          <a:xfrm>
            <a:off x="822960" y="370332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This section highlights: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42" name="Text 5"/>
          <p:cNvSpPr/>
          <p:nvPr/>
        </p:nvSpPr>
        <p:spPr>
          <a:xfrm>
            <a:off x="822960" y="4114800"/>
            <a:ext cx="621720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77840" indent="-177840">
              <a:lnSpc>
                <a:spcPct val="100000"/>
              </a:lnSpc>
              <a:spcAft>
                <a:spcPts val="1001"/>
              </a:spcAft>
              <a:buClr>
                <a:srgbClr val="e2e7fb"/>
              </a:buClr>
              <a:buFont typeface="StarSymbol"/>
              <a:buChar char="▪"/>
            </a:pPr>
            <a:r>
              <a:rPr b="0" lang="en-US" sz="1400" spc="-1" strike="noStrike">
                <a:solidFill>
                  <a:srgbClr val="e2e7fb"/>
                </a:solidFill>
                <a:latin typeface="Calibri"/>
                <a:ea typeface="Calibri"/>
              </a:rPr>
              <a:t>Tech Stack Overview</a:t>
            </a:r>
            <a:endParaRPr b="0" lang="en-US" sz="1400" spc="-1" strike="noStrike">
              <a:latin typeface="Arial"/>
            </a:endParaRPr>
          </a:p>
          <a:p>
            <a:pPr marL="177840" indent="-177840">
              <a:lnSpc>
                <a:spcPct val="100000"/>
              </a:lnSpc>
              <a:spcAft>
                <a:spcPts val="1001"/>
              </a:spcAft>
              <a:buClr>
                <a:srgbClr val="e2e7fb"/>
              </a:buClr>
              <a:buFont typeface="StarSymbol"/>
              <a:buChar char="▪"/>
            </a:pPr>
            <a:r>
              <a:rPr b="0" lang="en-US" sz="1400" spc="-1" strike="noStrike">
                <a:solidFill>
                  <a:srgbClr val="e2e7fb"/>
                </a:solidFill>
                <a:latin typeface="Calibri"/>
                <a:ea typeface="Calibri"/>
              </a:rPr>
              <a:t>System Architecture</a:t>
            </a:r>
            <a:endParaRPr b="0" lang="en-US" sz="1400" spc="-1" strike="noStrike">
              <a:latin typeface="Arial"/>
            </a:endParaRPr>
          </a:p>
          <a:p>
            <a:pPr marL="177840" indent="-177840">
              <a:lnSpc>
                <a:spcPct val="100000"/>
              </a:lnSpc>
              <a:spcAft>
                <a:spcPts val="1001"/>
              </a:spcAft>
              <a:buClr>
                <a:srgbClr val="e2e7fb"/>
              </a:buClr>
              <a:buFont typeface="StarSymbol"/>
              <a:buChar char="▪"/>
            </a:pPr>
            <a:r>
              <a:rPr b="0" lang="en-US" sz="1400" spc="-1" strike="noStrike">
                <a:solidFill>
                  <a:srgbClr val="e2e7fb"/>
                </a:solidFill>
                <a:latin typeface="Calibri"/>
                <a:ea typeface="Calibri"/>
              </a:rPr>
              <a:t>Key Technical Challenges &amp; Solutions</a:t>
            </a:r>
            <a:endParaRPr b="0" lang="en-US" sz="1400" spc="-1" strike="noStrike">
              <a:latin typeface="Arial"/>
            </a:endParaRPr>
          </a:p>
          <a:p>
            <a:pPr marL="177840" indent="-177840">
              <a:lnSpc>
                <a:spcPct val="100000"/>
              </a:lnSpc>
              <a:spcAft>
                <a:spcPts val="1001"/>
              </a:spcAft>
              <a:buClr>
                <a:srgbClr val="e2e7fb"/>
              </a:buClr>
              <a:buFont typeface="StarSymbol"/>
              <a:buChar char="▪"/>
            </a:pPr>
            <a:r>
              <a:rPr b="0" lang="en-US" sz="1400" spc="-1" strike="noStrike">
                <a:solidFill>
                  <a:srgbClr val="e2e7fb"/>
                </a:solidFill>
                <a:latin typeface="Calibri"/>
                <a:ea typeface="Calibri"/>
              </a:rPr>
              <a:t>Database Design</a:t>
            </a:r>
            <a:endParaRPr b="0" lang="en-US" sz="1400" spc="-1" strike="noStrike">
              <a:latin typeface="Arial"/>
            </a:endParaRPr>
          </a:p>
          <a:p>
            <a:pPr marL="177840" indent="-177840">
              <a:lnSpc>
                <a:spcPct val="100000"/>
              </a:lnSpc>
              <a:spcAft>
                <a:spcPts val="1001"/>
              </a:spcAft>
              <a:buClr>
                <a:srgbClr val="e2e7fb"/>
              </a:buClr>
              <a:buFont typeface="StarSymbol"/>
              <a:buChar char="▪"/>
            </a:pPr>
            <a:r>
              <a:rPr b="0" lang="en-US" sz="1400" spc="-1" strike="noStrike">
                <a:solidFill>
                  <a:srgbClr val="e2e7fb"/>
                </a:solidFill>
                <a:latin typeface="Calibri"/>
                <a:ea typeface="Calibri"/>
              </a:rPr>
              <a:t>API Design &amp; Best Practices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3" name="Text 6"/>
          <p:cNvSpPr/>
          <p:nvPr/>
        </p:nvSpPr>
        <p:spPr>
          <a:xfrm>
            <a:off x="11457360" y="644652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5b6472"/>
                </a:solidFill>
                <a:latin typeface="Calibri"/>
                <a:ea typeface="Calibri"/>
              </a:rPr>
              <a:t>07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 0"/>
          <p:cNvSpPr/>
          <p:nvPr/>
        </p:nvSpPr>
        <p:spPr>
          <a:xfrm>
            <a:off x="640080" y="457200"/>
            <a:ext cx="108806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600" spc="-1" strike="noStrike">
                <a:solidFill>
                  <a:srgbClr val="3654e0"/>
                </a:solidFill>
                <a:latin typeface="Cambria"/>
                <a:ea typeface="Cambria"/>
              </a:rPr>
              <a:t>Main Project: Technical Depth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45" name="Shape 1"/>
          <p:cNvSpPr/>
          <p:nvPr/>
        </p:nvSpPr>
        <p:spPr>
          <a:xfrm>
            <a:off x="640080" y="1371600"/>
            <a:ext cx="328320" cy="328320"/>
          </a:xfrm>
          <a:prstGeom prst="ellipse">
            <a:avLst/>
          </a:prstGeom>
          <a:solidFill>
            <a:srgbClr val="3654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Text 2"/>
          <p:cNvSpPr/>
          <p:nvPr/>
        </p:nvSpPr>
        <p:spPr>
          <a:xfrm>
            <a:off x="640080" y="137160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147" name="Text 3"/>
          <p:cNvSpPr/>
          <p:nvPr/>
        </p:nvSpPr>
        <p:spPr>
          <a:xfrm>
            <a:off x="1097280" y="1334880"/>
            <a:ext cx="48456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101828"/>
                </a:solidFill>
                <a:latin typeface="Cambria"/>
                <a:ea typeface="Cambria"/>
              </a:rPr>
              <a:t>Tech Stack Overview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8" name="Text 4"/>
          <p:cNvSpPr/>
          <p:nvPr/>
        </p:nvSpPr>
        <p:spPr>
          <a:xfrm>
            <a:off x="640080" y="1828800"/>
            <a:ext cx="5302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101828"/>
                </a:solidFill>
                <a:latin typeface="Calibri"/>
                <a:ea typeface="Calibri"/>
              </a:rPr>
              <a:t>React (Vite) + Tailwind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49" name="Text 5"/>
          <p:cNvSpPr/>
          <p:nvPr/>
        </p:nvSpPr>
        <p:spPr>
          <a:xfrm>
            <a:off x="640080" y="2103120"/>
            <a:ext cx="53028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b6472"/>
                </a:solidFill>
                <a:latin typeface="Calibri"/>
                <a:ea typeface="Calibri"/>
              </a:rPr>
              <a:t>Reactive SPA, reusable components (a single TransactionTable reused across Dashboard, History, &amp; Admin).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50" name="Text 6"/>
          <p:cNvSpPr/>
          <p:nvPr/>
        </p:nvSpPr>
        <p:spPr>
          <a:xfrm>
            <a:off x="640080" y="2743200"/>
            <a:ext cx="5302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101828"/>
                </a:solidFill>
                <a:latin typeface="Calibri"/>
                <a:ea typeface="Calibri"/>
              </a:rPr>
              <a:t>Spring Boot + Spring Security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51" name="Text 7"/>
          <p:cNvSpPr/>
          <p:nvPr/>
        </p:nvSpPr>
        <p:spPr>
          <a:xfrm>
            <a:off x="640080" y="3017520"/>
            <a:ext cx="53028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b6472"/>
                </a:solidFill>
                <a:latin typeface="Calibri"/>
                <a:ea typeface="Calibri"/>
              </a:rPr>
              <a:t>Mature ecosystem, stateless JWT auth, BigDecimal for financially precise balance calculations.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52" name="Text 8"/>
          <p:cNvSpPr/>
          <p:nvPr/>
        </p:nvSpPr>
        <p:spPr>
          <a:xfrm>
            <a:off x="640080" y="3657600"/>
            <a:ext cx="5302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101828"/>
                </a:solidFill>
                <a:latin typeface="Calibri"/>
                <a:ea typeface="Calibri"/>
              </a:rPr>
              <a:t>PostgreSQL / MySQL (H2 for dev)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53" name="Text 9"/>
          <p:cNvSpPr/>
          <p:nvPr/>
        </p:nvSpPr>
        <p:spPr>
          <a:xfrm>
            <a:off x="640080" y="3931920"/>
            <a:ext cx="53028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b6472"/>
                </a:solidFill>
                <a:latin typeface="Calibri"/>
                <a:ea typeface="Calibri"/>
              </a:rPr>
              <a:t>Relational + ACID transactions — essential for a financial ledger that can never be inconsistent.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54" name="Shape 10"/>
          <p:cNvSpPr/>
          <p:nvPr/>
        </p:nvSpPr>
        <p:spPr>
          <a:xfrm>
            <a:off x="6263640" y="1371600"/>
            <a:ext cx="328320" cy="328320"/>
          </a:xfrm>
          <a:prstGeom prst="ellipse">
            <a:avLst/>
          </a:prstGeom>
          <a:solidFill>
            <a:srgbClr val="3654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Text 11"/>
          <p:cNvSpPr/>
          <p:nvPr/>
        </p:nvSpPr>
        <p:spPr>
          <a:xfrm>
            <a:off x="6263640" y="137160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156" name="Text 12"/>
          <p:cNvSpPr/>
          <p:nvPr/>
        </p:nvSpPr>
        <p:spPr>
          <a:xfrm>
            <a:off x="6720840" y="1334880"/>
            <a:ext cx="48456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101828"/>
                </a:solidFill>
                <a:latin typeface="Cambria"/>
                <a:ea typeface="Cambria"/>
              </a:rPr>
              <a:t>System Architecture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57" name="Shape 13"/>
          <p:cNvSpPr/>
          <p:nvPr/>
        </p:nvSpPr>
        <p:spPr>
          <a:xfrm>
            <a:off x="6263640" y="2103120"/>
            <a:ext cx="1599480" cy="959400"/>
          </a:xfrm>
          <a:prstGeom prst="roundRect">
            <a:avLst>
              <a:gd name="adj" fmla="val 7619"/>
            </a:avLst>
          </a:prstGeom>
          <a:solidFill>
            <a:srgbClr val="f6f7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Text 14"/>
          <p:cNvSpPr/>
          <p:nvPr/>
        </p:nvSpPr>
        <p:spPr>
          <a:xfrm>
            <a:off x="6336720" y="2212920"/>
            <a:ext cx="1453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101828"/>
                </a:solidFill>
                <a:latin typeface="Calibri"/>
                <a:ea typeface="Calibri"/>
              </a:rPr>
              <a:t>React SPA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59" name="Text 15"/>
          <p:cNvSpPr/>
          <p:nvPr/>
        </p:nvSpPr>
        <p:spPr>
          <a:xfrm>
            <a:off x="6336720" y="2541960"/>
            <a:ext cx="14533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5b6472"/>
                </a:solidFill>
                <a:latin typeface="Calibri"/>
                <a:ea typeface="Calibri"/>
              </a:rPr>
              <a:t>Client, JWT in sessionStorage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60" name="Shape 16"/>
          <p:cNvSpPr/>
          <p:nvPr/>
        </p:nvSpPr>
        <p:spPr>
          <a:xfrm>
            <a:off x="7863840" y="2583000"/>
            <a:ext cx="255960" cy="360"/>
          </a:xfrm>
          <a:prstGeom prst="line">
            <a:avLst/>
          </a:prstGeom>
          <a:ln w="15875">
            <a:solidFill>
              <a:srgbClr val="5b647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Shape 17"/>
          <p:cNvSpPr/>
          <p:nvPr/>
        </p:nvSpPr>
        <p:spPr>
          <a:xfrm>
            <a:off x="8119800" y="2103120"/>
            <a:ext cx="1599480" cy="959400"/>
          </a:xfrm>
          <a:prstGeom prst="roundRect">
            <a:avLst>
              <a:gd name="adj" fmla="val 7619"/>
            </a:avLst>
          </a:prstGeom>
          <a:solidFill>
            <a:srgbClr val="3654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Text 18"/>
          <p:cNvSpPr/>
          <p:nvPr/>
        </p:nvSpPr>
        <p:spPr>
          <a:xfrm>
            <a:off x="8192880" y="2212920"/>
            <a:ext cx="1453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Spring Boot API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63" name="Text 19"/>
          <p:cNvSpPr/>
          <p:nvPr/>
        </p:nvSpPr>
        <p:spPr>
          <a:xfrm>
            <a:off x="8192880" y="2541960"/>
            <a:ext cx="14533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dce2fa"/>
                </a:solidFill>
                <a:latin typeface="Calibri"/>
                <a:ea typeface="Calibri"/>
              </a:rPr>
              <a:t>JWT filter + role-based access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64" name="Shape 20"/>
          <p:cNvSpPr/>
          <p:nvPr/>
        </p:nvSpPr>
        <p:spPr>
          <a:xfrm>
            <a:off x="9720000" y="2583000"/>
            <a:ext cx="255960" cy="360"/>
          </a:xfrm>
          <a:prstGeom prst="line">
            <a:avLst/>
          </a:prstGeom>
          <a:ln w="15875">
            <a:solidFill>
              <a:srgbClr val="5b647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Shape 21"/>
          <p:cNvSpPr/>
          <p:nvPr/>
        </p:nvSpPr>
        <p:spPr>
          <a:xfrm>
            <a:off x="9975960" y="2103120"/>
            <a:ext cx="1599480" cy="959400"/>
          </a:xfrm>
          <a:prstGeom prst="roundRect">
            <a:avLst>
              <a:gd name="adj" fmla="val 7619"/>
            </a:avLst>
          </a:prstGeom>
          <a:solidFill>
            <a:srgbClr val="f6f7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Text 22"/>
          <p:cNvSpPr/>
          <p:nvPr/>
        </p:nvSpPr>
        <p:spPr>
          <a:xfrm>
            <a:off x="10049400" y="2212920"/>
            <a:ext cx="1453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101828"/>
                </a:solidFill>
                <a:latin typeface="Calibri"/>
                <a:ea typeface="Calibri"/>
              </a:rPr>
              <a:t>PostgreSQL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67" name="Text 23"/>
          <p:cNvSpPr/>
          <p:nvPr/>
        </p:nvSpPr>
        <p:spPr>
          <a:xfrm>
            <a:off x="10049400" y="2541960"/>
            <a:ext cx="14533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5b6472"/>
                </a:solidFill>
                <a:latin typeface="Calibri"/>
                <a:ea typeface="Calibri"/>
              </a:rPr>
              <a:t>Transaction ledger (ACID)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68" name="Text 24"/>
          <p:cNvSpPr/>
          <p:nvPr/>
        </p:nvSpPr>
        <p:spPr>
          <a:xfrm>
            <a:off x="6263640" y="3383280"/>
            <a:ext cx="53028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5b6472"/>
                </a:solidFill>
                <a:latin typeface="Calibri"/>
                <a:ea typeface="Calibri"/>
              </a:rPr>
              <a:t>Midtrans Snap handles payment collection; the webhook confirms settlement to the backend asynchronously.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69" name="Text 25"/>
          <p:cNvSpPr/>
          <p:nvPr/>
        </p:nvSpPr>
        <p:spPr>
          <a:xfrm>
            <a:off x="6263640" y="4251960"/>
            <a:ext cx="53028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3654e0"/>
                </a:solidFill>
                <a:latin typeface="Calibri"/>
                <a:ea typeface="Calibri"/>
              </a:rPr>
              <a:t>Supporting diagram highlights: Use Case Diagram (Auth), User Flow Diagram (Top Up → Snap → Webhook → Balance Updated)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70" name="Text 26"/>
          <p:cNvSpPr/>
          <p:nvPr/>
        </p:nvSpPr>
        <p:spPr>
          <a:xfrm>
            <a:off x="11457360" y="644652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5b6472"/>
                </a:solidFill>
                <a:latin typeface="Calibri"/>
                <a:ea typeface="Calibri"/>
              </a:rPr>
              <a:t>08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 0"/>
          <p:cNvSpPr/>
          <p:nvPr/>
        </p:nvSpPr>
        <p:spPr>
          <a:xfrm>
            <a:off x="640080" y="411480"/>
            <a:ext cx="108806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600" spc="-1" strike="noStrike">
                <a:solidFill>
                  <a:srgbClr val="3654e0"/>
                </a:solidFill>
                <a:latin typeface="Cambria"/>
                <a:ea typeface="Cambria"/>
              </a:rPr>
              <a:t>Main Project: Technical Depth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72" name="Shape 1"/>
          <p:cNvSpPr/>
          <p:nvPr/>
        </p:nvSpPr>
        <p:spPr>
          <a:xfrm>
            <a:off x="640080" y="1143000"/>
            <a:ext cx="328320" cy="328320"/>
          </a:xfrm>
          <a:prstGeom prst="ellipse">
            <a:avLst/>
          </a:prstGeom>
          <a:solidFill>
            <a:srgbClr val="3654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Text 2"/>
          <p:cNvSpPr/>
          <p:nvPr/>
        </p:nvSpPr>
        <p:spPr>
          <a:xfrm>
            <a:off x="640080" y="114300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174" name="Text 3"/>
          <p:cNvSpPr/>
          <p:nvPr/>
        </p:nvSpPr>
        <p:spPr>
          <a:xfrm>
            <a:off x="1097280" y="1106280"/>
            <a:ext cx="68572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101828"/>
                </a:solidFill>
                <a:latin typeface="Cambria"/>
                <a:ea typeface="Cambria"/>
              </a:rPr>
              <a:t>Key Technical Challenges &amp; Solutions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75" name="Text 4"/>
          <p:cNvSpPr/>
          <p:nvPr/>
        </p:nvSpPr>
        <p:spPr>
          <a:xfrm>
            <a:off x="640080" y="1965960"/>
            <a:ext cx="3291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5b6472"/>
                </a:solidFill>
                <a:latin typeface="Calibri"/>
                <a:ea typeface="Calibri"/>
              </a:rPr>
              <a:t>Challenge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76" name="Text 5"/>
          <p:cNvSpPr/>
          <p:nvPr/>
        </p:nvSpPr>
        <p:spPr>
          <a:xfrm>
            <a:off x="4069080" y="1965960"/>
            <a:ext cx="3931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5b6472"/>
                </a:solidFill>
                <a:latin typeface="Calibri"/>
                <a:ea typeface="Calibri"/>
              </a:rPr>
              <a:t>Solution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77" name="Text 6"/>
          <p:cNvSpPr/>
          <p:nvPr/>
        </p:nvSpPr>
        <p:spPr>
          <a:xfrm>
            <a:off x="8138160" y="1965960"/>
            <a:ext cx="3382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5b6472"/>
                </a:solidFill>
                <a:latin typeface="Calibri"/>
                <a:ea typeface="Calibri"/>
              </a:rPr>
              <a:t>Impact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78" name="Shape 7"/>
          <p:cNvSpPr/>
          <p:nvPr/>
        </p:nvSpPr>
        <p:spPr>
          <a:xfrm>
            <a:off x="640080" y="2286000"/>
            <a:ext cx="10880640" cy="12960"/>
          </a:xfrm>
          <a:prstGeom prst="rect">
            <a:avLst/>
          </a:prstGeom>
          <a:solidFill>
            <a:srgbClr val="e4e7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Shape 8"/>
          <p:cNvSpPr/>
          <p:nvPr/>
        </p:nvSpPr>
        <p:spPr>
          <a:xfrm>
            <a:off x="640080" y="2468880"/>
            <a:ext cx="10880640" cy="941040"/>
          </a:xfrm>
          <a:prstGeom prst="roundRect">
            <a:avLst>
              <a:gd name="adj" fmla="val 7767"/>
            </a:avLst>
          </a:prstGeom>
          <a:solidFill>
            <a:srgbClr val="f6f7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Text 9"/>
          <p:cNvSpPr/>
          <p:nvPr/>
        </p:nvSpPr>
        <p:spPr>
          <a:xfrm>
            <a:off x="822960" y="2560320"/>
            <a:ext cx="30625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101828"/>
                </a:solidFill>
                <a:latin typeface="Calibri"/>
                <a:ea typeface="Calibri"/>
              </a:rPr>
              <a:t>Strict nominal validation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81" name="Text 10"/>
          <p:cNvSpPr/>
          <p:nvPr/>
        </p:nvSpPr>
        <p:spPr>
          <a:xfrm>
            <a:off x="4069080" y="2560320"/>
            <a:ext cx="379404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b6472"/>
                </a:solidFill>
                <a:latin typeface="Calibri"/>
                <a:ea typeface="Calibri"/>
              </a:rPr>
              <a:t>Custom Bean Validation @ValidNominal (String, not BigDecimal) with a specific message per case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82" name="Text 11"/>
          <p:cNvSpPr/>
          <p:nvPr/>
        </p:nvSpPr>
        <p:spPr>
          <a:xfrm>
            <a:off x="8001000" y="2560320"/>
            <a:ext cx="33825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12875b"/>
                </a:solidFill>
                <a:latin typeface="Calibri"/>
                <a:ea typeface="Calibri"/>
              </a:rPr>
              <a:t>Letter/symbol/blank/negative input is rejected before it ever reaches the database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83" name="Shape 12"/>
          <p:cNvSpPr/>
          <p:nvPr/>
        </p:nvSpPr>
        <p:spPr>
          <a:xfrm>
            <a:off x="640080" y="3520440"/>
            <a:ext cx="10880640" cy="941040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4" name="Text 13"/>
          <p:cNvSpPr/>
          <p:nvPr/>
        </p:nvSpPr>
        <p:spPr>
          <a:xfrm>
            <a:off x="822960" y="3611880"/>
            <a:ext cx="30625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101828"/>
                </a:solidFill>
                <a:latin typeface="Calibri"/>
                <a:ea typeface="Calibri"/>
              </a:rPr>
              <a:t>Transfers must be atomic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85" name="Text 14"/>
          <p:cNvSpPr/>
          <p:nvPr/>
        </p:nvSpPr>
        <p:spPr>
          <a:xfrm>
            <a:off x="4069080" y="3611880"/>
            <a:ext cx="379404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b6472"/>
                </a:solidFill>
                <a:latin typeface="Calibri"/>
                <a:ea typeface="Calibri"/>
              </a:rPr>
              <a:t>@Transactional wraps the debit + credit + ledger write in a single unit of work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86" name="Text 15"/>
          <p:cNvSpPr/>
          <p:nvPr/>
        </p:nvSpPr>
        <p:spPr>
          <a:xfrm>
            <a:off x="8001000" y="3611880"/>
            <a:ext cx="33825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12875b"/>
                </a:solidFill>
                <a:latin typeface="Calibri"/>
                <a:ea typeface="Calibri"/>
              </a:rPr>
              <a:t>Balance is never deducted one-sidedly — automatic rollback if any step fails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87" name="Shape 16"/>
          <p:cNvSpPr/>
          <p:nvPr/>
        </p:nvSpPr>
        <p:spPr>
          <a:xfrm>
            <a:off x="640080" y="4572000"/>
            <a:ext cx="10880640" cy="941040"/>
          </a:xfrm>
          <a:prstGeom prst="roundRect">
            <a:avLst>
              <a:gd name="adj" fmla="val 7767"/>
            </a:avLst>
          </a:prstGeom>
          <a:solidFill>
            <a:srgbClr val="f6f7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Text 17"/>
          <p:cNvSpPr/>
          <p:nvPr/>
        </p:nvSpPr>
        <p:spPr>
          <a:xfrm>
            <a:off x="822960" y="4663440"/>
            <a:ext cx="30625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101828"/>
                </a:solidFill>
                <a:latin typeface="Calibri"/>
                <a:ea typeface="Calibri"/>
              </a:rPr>
              <a:t>Async payment confirmation isn't reliable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89" name="Text 18"/>
          <p:cNvSpPr/>
          <p:nvPr/>
        </p:nvSpPr>
        <p:spPr>
          <a:xfrm>
            <a:off x="4069080" y="4663440"/>
            <a:ext cx="379404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b6472"/>
                </a:solidFill>
                <a:latin typeface="Calibri"/>
                <a:ea typeface="Calibri"/>
              </a:rPr>
              <a:t>Re-verify against Midtrans CoreApi (never trust the webhook body) + idempotency guard + polling fallback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90" name="Text 19"/>
          <p:cNvSpPr/>
          <p:nvPr/>
        </p:nvSpPr>
        <p:spPr>
          <a:xfrm>
            <a:off x="8001000" y="4663440"/>
            <a:ext cx="33825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12875b"/>
                </a:solidFill>
                <a:latin typeface="Calibri"/>
                <a:ea typeface="Calibri"/>
              </a:rPr>
              <a:t>Balance still updates even if the webhook is late or fails to arrive (real case: local tunnel misconfiguration)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91" name="Shape 20"/>
          <p:cNvSpPr/>
          <p:nvPr/>
        </p:nvSpPr>
        <p:spPr>
          <a:xfrm>
            <a:off x="640080" y="5623560"/>
            <a:ext cx="10880640" cy="941040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Text 21"/>
          <p:cNvSpPr/>
          <p:nvPr/>
        </p:nvSpPr>
        <p:spPr>
          <a:xfrm>
            <a:off x="822960" y="5715000"/>
            <a:ext cx="30625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101828"/>
                </a:solidFill>
                <a:latin typeface="Calibri"/>
                <a:ea typeface="Calibri"/>
              </a:rPr>
              <a:t>Data isolation between users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93" name="Text 22"/>
          <p:cNvSpPr/>
          <p:nvPr/>
        </p:nvSpPr>
        <p:spPr>
          <a:xfrm>
            <a:off x="4069080" y="5715000"/>
            <a:ext cx="379404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b6472"/>
                </a:solidFill>
                <a:latin typeface="Calibri"/>
                <a:ea typeface="Calibri"/>
              </a:rPr>
              <a:t>JWT + @PreAuthorize + wallet ownership derived from the token's identity, not a client-supplied ID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94" name="Text 23"/>
          <p:cNvSpPr/>
          <p:nvPr/>
        </p:nvSpPr>
        <p:spPr>
          <a:xfrm>
            <a:off x="8001000" y="5715000"/>
            <a:ext cx="33825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12875b"/>
                </a:solidFill>
                <a:latin typeface="Calibri"/>
                <a:ea typeface="Calibri"/>
              </a:rPr>
              <a:t>User A is structurally unable to access User B's balance or transactions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95" name="Text 24"/>
          <p:cNvSpPr/>
          <p:nvPr/>
        </p:nvSpPr>
        <p:spPr>
          <a:xfrm>
            <a:off x="11457360" y="644652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5b6472"/>
                </a:solidFill>
                <a:latin typeface="Calibri"/>
                <a:ea typeface="Calibri"/>
              </a:rPr>
              <a:t>09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Text 0"/>
          <p:cNvSpPr/>
          <p:nvPr/>
        </p:nvSpPr>
        <p:spPr>
          <a:xfrm>
            <a:off x="640080" y="457200"/>
            <a:ext cx="108806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600" spc="-1" strike="noStrike">
                <a:solidFill>
                  <a:srgbClr val="3654e0"/>
                </a:solidFill>
                <a:latin typeface="Cambria"/>
                <a:ea typeface="Cambria"/>
              </a:rPr>
              <a:t>Main Project: Technical Depth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97" name="Shape 1"/>
          <p:cNvSpPr/>
          <p:nvPr/>
        </p:nvSpPr>
        <p:spPr>
          <a:xfrm>
            <a:off x="640080" y="1417320"/>
            <a:ext cx="328320" cy="328320"/>
          </a:xfrm>
          <a:prstGeom prst="ellipse">
            <a:avLst/>
          </a:prstGeom>
          <a:solidFill>
            <a:srgbClr val="3654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Text 2"/>
          <p:cNvSpPr/>
          <p:nvPr/>
        </p:nvSpPr>
        <p:spPr>
          <a:xfrm>
            <a:off x="640080" y="141732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199" name="Text 3"/>
          <p:cNvSpPr/>
          <p:nvPr/>
        </p:nvSpPr>
        <p:spPr>
          <a:xfrm>
            <a:off x="1097280" y="1380600"/>
            <a:ext cx="48456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101828"/>
                </a:solidFill>
                <a:latin typeface="Cambria"/>
                <a:ea typeface="Cambria"/>
              </a:rPr>
              <a:t>Database Design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00" name="Shape 4"/>
          <p:cNvSpPr/>
          <p:nvPr/>
        </p:nvSpPr>
        <p:spPr>
          <a:xfrm>
            <a:off x="640080" y="1965960"/>
            <a:ext cx="5302800" cy="4434120"/>
          </a:xfrm>
          <a:prstGeom prst="roundRect">
            <a:avLst>
              <a:gd name="adj" fmla="val 2474"/>
            </a:avLst>
          </a:prstGeom>
          <a:solidFill>
            <a:srgbClr val="f6f7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1" name="Shape 5"/>
          <p:cNvSpPr/>
          <p:nvPr/>
        </p:nvSpPr>
        <p:spPr>
          <a:xfrm>
            <a:off x="914400" y="2331720"/>
            <a:ext cx="1370880" cy="6393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3654e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Text 6"/>
          <p:cNvSpPr/>
          <p:nvPr/>
        </p:nvSpPr>
        <p:spPr>
          <a:xfrm>
            <a:off x="914400" y="2331720"/>
            <a:ext cx="1370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101828"/>
                </a:solidFill>
                <a:latin typeface="Calibri"/>
                <a:ea typeface="Calibri"/>
              </a:rPr>
              <a:t>User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03" name="Shape 7"/>
          <p:cNvSpPr/>
          <p:nvPr/>
        </p:nvSpPr>
        <p:spPr>
          <a:xfrm>
            <a:off x="2651760" y="2331720"/>
            <a:ext cx="1370880" cy="6393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3654e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Text 8"/>
          <p:cNvSpPr/>
          <p:nvPr/>
        </p:nvSpPr>
        <p:spPr>
          <a:xfrm>
            <a:off x="2651760" y="2331720"/>
            <a:ext cx="1370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101828"/>
                </a:solidFill>
                <a:latin typeface="Calibri"/>
                <a:ea typeface="Calibri"/>
              </a:rPr>
              <a:t>Wallet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05" name="Shape 9"/>
          <p:cNvSpPr/>
          <p:nvPr/>
        </p:nvSpPr>
        <p:spPr>
          <a:xfrm>
            <a:off x="4206240" y="2331720"/>
            <a:ext cx="1370880" cy="6393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3654e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Text 10"/>
          <p:cNvSpPr/>
          <p:nvPr/>
        </p:nvSpPr>
        <p:spPr>
          <a:xfrm>
            <a:off x="4206240" y="2331720"/>
            <a:ext cx="1370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101828"/>
                </a:solidFill>
                <a:latin typeface="Calibri"/>
                <a:ea typeface="Calibri"/>
              </a:rPr>
              <a:t>Transaction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07" name="Shape 11"/>
          <p:cNvSpPr/>
          <p:nvPr/>
        </p:nvSpPr>
        <p:spPr>
          <a:xfrm>
            <a:off x="2286000" y="2651760"/>
            <a:ext cx="365760" cy="360"/>
          </a:xfrm>
          <a:prstGeom prst="line">
            <a:avLst/>
          </a:prstGeom>
          <a:ln w="15875">
            <a:solidFill>
              <a:srgbClr val="3654e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08" name="Shape 12"/>
          <p:cNvSpPr/>
          <p:nvPr/>
        </p:nvSpPr>
        <p:spPr>
          <a:xfrm>
            <a:off x="4023360" y="2651760"/>
            <a:ext cx="182880" cy="360"/>
          </a:xfrm>
          <a:prstGeom prst="line">
            <a:avLst/>
          </a:prstGeom>
          <a:ln w="15875">
            <a:solidFill>
              <a:srgbClr val="3654e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09" name="Text 13"/>
          <p:cNvSpPr/>
          <p:nvPr/>
        </p:nvSpPr>
        <p:spPr>
          <a:xfrm>
            <a:off x="2148840" y="2084760"/>
            <a:ext cx="5479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5b6472"/>
                </a:solidFill>
                <a:latin typeface="Calibri"/>
                <a:ea typeface="Calibri"/>
              </a:rPr>
              <a:t>1 : 1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10" name="Text 14"/>
          <p:cNvSpPr/>
          <p:nvPr/>
        </p:nvSpPr>
        <p:spPr>
          <a:xfrm>
            <a:off x="3794760" y="2084760"/>
            <a:ext cx="639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5b6472"/>
                </a:solidFill>
                <a:latin typeface="Calibri"/>
                <a:ea typeface="Calibri"/>
              </a:rPr>
              <a:t>1 : N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11" name="Text 15"/>
          <p:cNvSpPr/>
          <p:nvPr/>
        </p:nvSpPr>
        <p:spPr>
          <a:xfrm>
            <a:off x="914400" y="3246120"/>
            <a:ext cx="475416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77840" indent="-177840">
              <a:lnSpc>
                <a:spcPct val="100000"/>
              </a:lnSpc>
              <a:spcAft>
                <a:spcPts val="1199"/>
              </a:spcAft>
              <a:buClr>
                <a:srgbClr val="5b6472"/>
              </a:buClr>
              <a:buFont typeface="StarSymbol"/>
              <a:buChar char="▪"/>
            </a:pPr>
            <a:r>
              <a:rPr b="0" lang="en-US" sz="1200" spc="-1" strike="noStrike">
                <a:solidFill>
                  <a:srgbClr val="5b6472"/>
                </a:solidFill>
                <a:latin typeface="Calibri"/>
                <a:ea typeface="Calibri"/>
              </a:rPr>
              <a:t>Transaction stores sourceWallet &amp; destinationWallet (nullable) to represent Deposit/Withdraw/Transfer uniformly in a single ledger table.</a:t>
            </a:r>
            <a:endParaRPr b="0" lang="en-US" sz="1200" spc="-1" strike="noStrike">
              <a:latin typeface="Arial"/>
            </a:endParaRPr>
          </a:p>
          <a:p>
            <a:pPr marL="177840" indent="-177840">
              <a:lnSpc>
                <a:spcPct val="100000"/>
              </a:lnSpc>
              <a:spcAft>
                <a:spcPts val="1199"/>
              </a:spcAft>
              <a:buClr>
                <a:srgbClr val="5b6472"/>
              </a:buClr>
              <a:buFont typeface="StarSymbol"/>
              <a:buChar char="▪"/>
            </a:pPr>
            <a:r>
              <a:rPr b="0" lang="en-US" sz="1200" spc="-1" strike="noStrike">
                <a:solidFill>
                  <a:srgbClr val="5b6472"/>
                </a:solidFill>
                <a:latin typeface="Calibri"/>
                <a:ea typeface="Calibri"/>
              </a:rPr>
              <a:t>A unique orderId field links a top-up transaction to its Midtrans order, used by both the webhook and manual sync for idempotency.</a:t>
            </a:r>
            <a:endParaRPr b="0" lang="en-US" sz="1200" spc="-1" strike="noStrike">
              <a:latin typeface="Arial"/>
            </a:endParaRPr>
          </a:p>
          <a:p>
            <a:pPr marL="177840" indent="-177840">
              <a:lnSpc>
                <a:spcPct val="100000"/>
              </a:lnSpc>
              <a:spcAft>
                <a:spcPts val="1199"/>
              </a:spcAft>
              <a:buClr>
                <a:srgbClr val="5b6472"/>
              </a:buClr>
              <a:buFont typeface="StarSymbol"/>
              <a:buChar char="▪"/>
            </a:pPr>
            <a:r>
              <a:rPr b="0" lang="en-US" sz="1200" spc="-1" strike="noStrike">
                <a:solidFill>
                  <a:srgbClr val="5b6472"/>
                </a:solidFill>
                <a:latin typeface="Calibri"/>
                <a:ea typeface="Calibri"/>
              </a:rPr>
              <a:t>The User ↔ Wallet relationship is 1:1 — every user automatically gets one wallet upon registration.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12" name="Shape 16"/>
          <p:cNvSpPr/>
          <p:nvPr/>
        </p:nvSpPr>
        <p:spPr>
          <a:xfrm>
            <a:off x="6263640" y="1417320"/>
            <a:ext cx="328320" cy="328320"/>
          </a:xfrm>
          <a:prstGeom prst="ellipse">
            <a:avLst/>
          </a:prstGeom>
          <a:solidFill>
            <a:srgbClr val="3654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3" name="Text 17"/>
          <p:cNvSpPr/>
          <p:nvPr/>
        </p:nvSpPr>
        <p:spPr>
          <a:xfrm>
            <a:off x="6263640" y="141732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214" name="Text 18"/>
          <p:cNvSpPr/>
          <p:nvPr/>
        </p:nvSpPr>
        <p:spPr>
          <a:xfrm>
            <a:off x="6720840" y="1380600"/>
            <a:ext cx="48456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101828"/>
                </a:solidFill>
                <a:latin typeface="Cambria"/>
                <a:ea typeface="Cambria"/>
              </a:rPr>
              <a:t>API Design &amp; Best Practices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15" name="Shape 19"/>
          <p:cNvSpPr/>
          <p:nvPr/>
        </p:nvSpPr>
        <p:spPr>
          <a:xfrm>
            <a:off x="6263640" y="1965960"/>
            <a:ext cx="5302800" cy="4434120"/>
          </a:xfrm>
          <a:prstGeom prst="roundRect">
            <a:avLst>
              <a:gd name="adj" fmla="val 2474"/>
            </a:avLst>
          </a:prstGeom>
          <a:solidFill>
            <a:srgbClr val="f6f7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Text 20"/>
          <p:cNvSpPr/>
          <p:nvPr/>
        </p:nvSpPr>
        <p:spPr>
          <a:xfrm>
            <a:off x="6537960" y="2194560"/>
            <a:ext cx="4754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101828"/>
                </a:solidFill>
                <a:latin typeface="Calibri"/>
                <a:ea typeface="Calibri"/>
              </a:rPr>
              <a:t>RESTful, scoped to the caller's identity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17" name="Text 21"/>
          <p:cNvSpPr/>
          <p:nvPr/>
        </p:nvSpPr>
        <p:spPr>
          <a:xfrm>
            <a:off x="6537960" y="2487240"/>
            <a:ext cx="47541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5b6472"/>
                </a:solidFill>
                <a:latin typeface="Calibri"/>
                <a:ea typeface="Calibri"/>
              </a:rPr>
              <a:t>GET /api/wallet &amp; /api/transactions need no ID in the path — resolved from the JWT, not the client.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218" name="Text 22"/>
          <p:cNvSpPr/>
          <p:nvPr/>
        </p:nvSpPr>
        <p:spPr>
          <a:xfrm>
            <a:off x="6537960" y="3154680"/>
            <a:ext cx="4754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101828"/>
                </a:solidFill>
                <a:latin typeface="Calibri"/>
                <a:ea typeface="Calibri"/>
              </a:rPr>
              <a:t>Consistent HTTP status codes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19" name="Shape 23"/>
          <p:cNvSpPr/>
          <p:nvPr/>
        </p:nvSpPr>
        <p:spPr>
          <a:xfrm>
            <a:off x="6537960" y="3474720"/>
            <a:ext cx="685080" cy="273600"/>
          </a:xfrm>
          <a:prstGeom prst="roundRect">
            <a:avLst>
              <a:gd name="adj" fmla="val 20000"/>
            </a:avLst>
          </a:prstGeom>
          <a:solidFill>
            <a:srgbClr val="eef1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0" name="Text 24"/>
          <p:cNvSpPr/>
          <p:nvPr/>
        </p:nvSpPr>
        <p:spPr>
          <a:xfrm>
            <a:off x="6537960" y="3474720"/>
            <a:ext cx="685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3654e0"/>
                </a:solidFill>
                <a:latin typeface="Calibri"/>
                <a:ea typeface="Calibri"/>
              </a:rPr>
              <a:t>422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221" name="Text 25"/>
          <p:cNvSpPr/>
          <p:nvPr/>
        </p:nvSpPr>
        <p:spPr>
          <a:xfrm>
            <a:off x="7360920" y="3474720"/>
            <a:ext cx="3931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b6472"/>
                </a:solidFill>
                <a:latin typeface="Calibri"/>
                <a:ea typeface="Calibri"/>
              </a:rPr>
              <a:t>Input validation (nominal, email, password)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222" name="Shape 26"/>
          <p:cNvSpPr/>
          <p:nvPr/>
        </p:nvSpPr>
        <p:spPr>
          <a:xfrm>
            <a:off x="6537960" y="3858840"/>
            <a:ext cx="685080" cy="273600"/>
          </a:xfrm>
          <a:prstGeom prst="roundRect">
            <a:avLst>
              <a:gd name="adj" fmla="val 20000"/>
            </a:avLst>
          </a:prstGeom>
          <a:solidFill>
            <a:srgbClr val="eef1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3" name="Text 27"/>
          <p:cNvSpPr/>
          <p:nvPr/>
        </p:nvSpPr>
        <p:spPr>
          <a:xfrm>
            <a:off x="6537960" y="3858840"/>
            <a:ext cx="685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3654e0"/>
                </a:solidFill>
                <a:latin typeface="Calibri"/>
                <a:ea typeface="Calibri"/>
              </a:rPr>
              <a:t>400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224" name="Text 28"/>
          <p:cNvSpPr/>
          <p:nvPr/>
        </p:nvSpPr>
        <p:spPr>
          <a:xfrm>
            <a:off x="7360920" y="3858840"/>
            <a:ext cx="3931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b6472"/>
                </a:solidFill>
                <a:latin typeface="Calibri"/>
                <a:ea typeface="Calibri"/>
              </a:rPr>
              <a:t>Business rule violation (insufficient balance)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225" name="Shape 29"/>
          <p:cNvSpPr/>
          <p:nvPr/>
        </p:nvSpPr>
        <p:spPr>
          <a:xfrm>
            <a:off x="6537960" y="4242960"/>
            <a:ext cx="685080" cy="273600"/>
          </a:xfrm>
          <a:prstGeom prst="roundRect">
            <a:avLst>
              <a:gd name="adj" fmla="val 20000"/>
            </a:avLst>
          </a:prstGeom>
          <a:solidFill>
            <a:srgbClr val="eef1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6" name="Text 30"/>
          <p:cNvSpPr/>
          <p:nvPr/>
        </p:nvSpPr>
        <p:spPr>
          <a:xfrm>
            <a:off x="6537960" y="4242960"/>
            <a:ext cx="685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3654e0"/>
                </a:solidFill>
                <a:latin typeface="Calibri"/>
                <a:ea typeface="Calibri"/>
              </a:rPr>
              <a:t>401 / 403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227" name="Text 31"/>
          <p:cNvSpPr/>
          <p:nvPr/>
        </p:nvSpPr>
        <p:spPr>
          <a:xfrm>
            <a:off x="7360920" y="4242960"/>
            <a:ext cx="3931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b6472"/>
                </a:solidFill>
                <a:latin typeface="Calibri"/>
                <a:ea typeface="Calibri"/>
              </a:rPr>
              <a:t>Not authenticated / not authorized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228" name="Shape 32"/>
          <p:cNvSpPr/>
          <p:nvPr/>
        </p:nvSpPr>
        <p:spPr>
          <a:xfrm>
            <a:off x="6537960" y="4626720"/>
            <a:ext cx="685080" cy="273600"/>
          </a:xfrm>
          <a:prstGeom prst="roundRect">
            <a:avLst>
              <a:gd name="adj" fmla="val 20000"/>
            </a:avLst>
          </a:prstGeom>
          <a:solidFill>
            <a:srgbClr val="eef1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9" name="Text 33"/>
          <p:cNvSpPr/>
          <p:nvPr/>
        </p:nvSpPr>
        <p:spPr>
          <a:xfrm>
            <a:off x="6537960" y="4626720"/>
            <a:ext cx="685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3654e0"/>
                </a:solidFill>
                <a:latin typeface="Calibri"/>
                <a:ea typeface="Calibri"/>
              </a:rPr>
              <a:t>502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230" name="Text 34"/>
          <p:cNvSpPr/>
          <p:nvPr/>
        </p:nvSpPr>
        <p:spPr>
          <a:xfrm>
            <a:off x="7360920" y="4626720"/>
            <a:ext cx="3931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b6472"/>
                </a:solidFill>
                <a:latin typeface="Calibri"/>
                <a:ea typeface="Calibri"/>
              </a:rPr>
              <a:t>Midtrans gateway failed / unreachable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231" name="Text 35"/>
          <p:cNvSpPr/>
          <p:nvPr/>
        </p:nvSpPr>
        <p:spPr>
          <a:xfrm>
            <a:off x="6537960" y="5166360"/>
            <a:ext cx="47541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5b6472"/>
                </a:solidFill>
                <a:latin typeface="Calibri"/>
                <a:ea typeface="Calibri"/>
              </a:rPr>
              <a:t>Validation (@Valid) at the controller boundary — invalid data is guaranteed to never reach the database.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32" name="Text 36"/>
          <p:cNvSpPr/>
          <p:nvPr/>
        </p:nvSpPr>
        <p:spPr>
          <a:xfrm>
            <a:off x="11457360" y="644652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5b6472"/>
                </a:solidFill>
                <a:latin typeface="Calibri"/>
                <a:ea typeface="Calibri"/>
              </a:rPr>
              <a:t>10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654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Shape 0"/>
          <p:cNvSpPr/>
          <p:nvPr/>
        </p:nvSpPr>
        <p:spPr>
          <a:xfrm>
            <a:off x="9326880" y="-1097280"/>
            <a:ext cx="4571280" cy="4571280"/>
          </a:xfrm>
          <a:prstGeom prst="roundRect">
            <a:avLst>
              <a:gd name="adj" fmla="val 50000"/>
            </a:avLst>
          </a:prstGeom>
          <a:solidFill>
            <a:srgbClr val="2a41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4" name="Shape 1"/>
          <p:cNvSpPr/>
          <p:nvPr/>
        </p:nvSpPr>
        <p:spPr>
          <a:xfrm>
            <a:off x="10607040" y="3931920"/>
            <a:ext cx="3291120" cy="3291120"/>
          </a:xfrm>
          <a:prstGeom prst="roundRect">
            <a:avLst>
              <a:gd name="adj" fmla="val 50000"/>
            </a:avLst>
          </a:prstGeom>
          <a:solidFill>
            <a:srgbClr val="2a41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5" name="Text 2"/>
          <p:cNvSpPr/>
          <p:nvPr/>
        </p:nvSpPr>
        <p:spPr>
          <a:xfrm>
            <a:off x="822960" y="137160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296" strike="noStrike">
                <a:solidFill>
                  <a:srgbClr val="c7cedd"/>
                </a:solidFill>
                <a:latin typeface="Calibri"/>
                <a:ea typeface="Calibri"/>
              </a:rPr>
              <a:t>PROJECT ADD-ON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36" name="Text 3"/>
          <p:cNvSpPr/>
          <p:nvPr/>
        </p:nvSpPr>
        <p:spPr>
          <a:xfrm>
            <a:off x="777240" y="1737360"/>
            <a:ext cx="694872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solidFill>
                  <a:srgbClr val="ffffff"/>
                </a:solidFill>
                <a:latin typeface="Cambria"/>
                <a:ea typeface="Cambria"/>
              </a:rPr>
              <a:t>Add-on: Admin Panel</a:t>
            </a:r>
            <a:endParaRPr b="0" lang="en-US" sz="40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solidFill>
                  <a:srgbClr val="ffffff"/>
                </a:solidFill>
                <a:latin typeface="Cambria"/>
                <a:ea typeface="Cambria"/>
              </a:rPr>
              <a:t>&amp; Monitoring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237" name="Text 4"/>
          <p:cNvSpPr/>
          <p:nvPr/>
        </p:nvSpPr>
        <p:spPr>
          <a:xfrm>
            <a:off x="822960" y="370332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This section highlights: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38" name="Text 5"/>
          <p:cNvSpPr/>
          <p:nvPr/>
        </p:nvSpPr>
        <p:spPr>
          <a:xfrm>
            <a:off x="822960" y="4114800"/>
            <a:ext cx="621720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77840" indent="-177840">
              <a:lnSpc>
                <a:spcPct val="100000"/>
              </a:lnSpc>
              <a:spcAft>
                <a:spcPts val="1001"/>
              </a:spcAft>
              <a:buClr>
                <a:srgbClr val="e2e7fb"/>
              </a:buClr>
              <a:buFont typeface="StarSymbol"/>
              <a:buChar char="▪"/>
            </a:pPr>
            <a:r>
              <a:rPr b="0" lang="en-US" sz="1400" spc="-1" strike="noStrike">
                <a:solidFill>
                  <a:srgbClr val="e2e7fb"/>
                </a:solidFill>
                <a:latin typeface="Calibri"/>
                <a:ea typeface="Calibri"/>
              </a:rPr>
              <a:t>Problem Statement</a:t>
            </a:r>
            <a:endParaRPr b="0" lang="en-US" sz="1400" spc="-1" strike="noStrike">
              <a:latin typeface="Arial"/>
            </a:endParaRPr>
          </a:p>
          <a:p>
            <a:pPr marL="177840" indent="-177840">
              <a:lnSpc>
                <a:spcPct val="100000"/>
              </a:lnSpc>
              <a:spcAft>
                <a:spcPts val="1001"/>
              </a:spcAft>
              <a:buClr>
                <a:srgbClr val="e2e7fb"/>
              </a:buClr>
              <a:buFont typeface="StarSymbol"/>
              <a:buChar char="▪"/>
            </a:pPr>
            <a:r>
              <a:rPr b="0" lang="en-US" sz="1400" spc="-1" strike="noStrike">
                <a:solidFill>
                  <a:srgbClr val="e2e7fb"/>
                </a:solidFill>
                <a:latin typeface="Calibri"/>
                <a:ea typeface="Calibri"/>
              </a:rPr>
              <a:t>Target User &amp; Value Proposition</a:t>
            </a:r>
            <a:endParaRPr b="0" lang="en-US" sz="1400" spc="-1" strike="noStrike">
              <a:latin typeface="Arial"/>
            </a:endParaRPr>
          </a:p>
          <a:p>
            <a:pPr marL="177840" indent="-177840">
              <a:lnSpc>
                <a:spcPct val="100000"/>
              </a:lnSpc>
              <a:spcAft>
                <a:spcPts val="1001"/>
              </a:spcAft>
              <a:buClr>
                <a:srgbClr val="e2e7fb"/>
              </a:buClr>
              <a:buFont typeface="StarSymbol"/>
              <a:buChar char="▪"/>
            </a:pPr>
            <a:r>
              <a:rPr b="0" lang="en-US" sz="1400" spc="-1" strike="noStrike">
                <a:solidFill>
                  <a:srgbClr val="e2e7fb"/>
                </a:solidFill>
                <a:latin typeface="Calibri"/>
                <a:ea typeface="Calibri"/>
              </a:rPr>
              <a:t>Business Model</a:t>
            </a:r>
            <a:endParaRPr b="0" lang="en-US" sz="1400" spc="-1" strike="noStrike">
              <a:latin typeface="Arial"/>
            </a:endParaRPr>
          </a:p>
          <a:p>
            <a:pPr marL="177840" indent="-177840">
              <a:lnSpc>
                <a:spcPct val="100000"/>
              </a:lnSpc>
              <a:spcAft>
                <a:spcPts val="1001"/>
              </a:spcAft>
              <a:buClr>
                <a:srgbClr val="e2e7fb"/>
              </a:buClr>
              <a:buFont typeface="StarSymbol"/>
              <a:buChar char="▪"/>
            </a:pPr>
            <a:r>
              <a:rPr b="0" lang="en-US" sz="1400" spc="-1" strike="noStrike">
                <a:solidFill>
                  <a:srgbClr val="e2e7fb"/>
                </a:solidFill>
                <a:latin typeface="Calibri"/>
                <a:ea typeface="Calibri"/>
              </a:rPr>
              <a:t>Impact &amp; Scalability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39" name="Text 6"/>
          <p:cNvSpPr/>
          <p:nvPr/>
        </p:nvSpPr>
        <p:spPr>
          <a:xfrm>
            <a:off x="11457360" y="644652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5b6472"/>
                </a:solidFill>
                <a:latin typeface="Calibri"/>
                <a:ea typeface="Calibri"/>
              </a:rPr>
              <a:t>13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Text 0"/>
          <p:cNvSpPr/>
          <p:nvPr/>
        </p:nvSpPr>
        <p:spPr>
          <a:xfrm>
            <a:off x="640080" y="457200"/>
            <a:ext cx="108806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3654e0"/>
                </a:solidFill>
                <a:latin typeface="Cambria"/>
                <a:ea typeface="Cambria"/>
              </a:rPr>
              <a:t>Project Add-on: Business Perspective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241" name="Shape 1"/>
          <p:cNvSpPr/>
          <p:nvPr/>
        </p:nvSpPr>
        <p:spPr>
          <a:xfrm>
            <a:off x="640080" y="1417320"/>
            <a:ext cx="328320" cy="328320"/>
          </a:xfrm>
          <a:prstGeom prst="ellipse">
            <a:avLst/>
          </a:prstGeom>
          <a:solidFill>
            <a:srgbClr val="3654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2" name="Text 2"/>
          <p:cNvSpPr/>
          <p:nvPr/>
        </p:nvSpPr>
        <p:spPr>
          <a:xfrm>
            <a:off x="640080" y="141732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243" name="Text 3"/>
          <p:cNvSpPr/>
          <p:nvPr/>
        </p:nvSpPr>
        <p:spPr>
          <a:xfrm>
            <a:off x="1097280" y="1380600"/>
            <a:ext cx="48456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101828"/>
                </a:solidFill>
                <a:latin typeface="Cambria"/>
                <a:ea typeface="Cambria"/>
              </a:rPr>
              <a:t>Problem Statement &amp; Target User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44" name="Shape 4"/>
          <p:cNvSpPr/>
          <p:nvPr/>
        </p:nvSpPr>
        <p:spPr>
          <a:xfrm>
            <a:off x="640080" y="1965960"/>
            <a:ext cx="5302800" cy="4434120"/>
          </a:xfrm>
          <a:prstGeom prst="roundRect">
            <a:avLst>
              <a:gd name="adj" fmla="val 2474"/>
            </a:avLst>
          </a:prstGeom>
          <a:solidFill>
            <a:srgbClr val="f6f7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5" name="Text 5"/>
          <p:cNvSpPr/>
          <p:nvPr/>
        </p:nvSpPr>
        <p:spPr>
          <a:xfrm>
            <a:off x="914400" y="2240280"/>
            <a:ext cx="475416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77840" indent="-177840">
              <a:lnSpc>
                <a:spcPct val="100000"/>
              </a:lnSpc>
              <a:spcAft>
                <a:spcPts val="1400"/>
              </a:spcAft>
              <a:buClr>
                <a:srgbClr val="5b6472"/>
              </a:buClr>
              <a:buFont typeface="StarSymbol"/>
              <a:buChar char="▪"/>
            </a:pPr>
            <a:r>
              <a:rPr b="0" lang="en-US" sz="1250" spc="-1" strike="noStrike">
                <a:solidFill>
                  <a:srgbClr val="5b6472"/>
                </a:solidFill>
                <a:latin typeface="Calibri"/>
                <a:ea typeface="Calibri"/>
              </a:rPr>
              <a:t>Without internal tooling, admins have no way to monitor user activity, deactivate problem accounts, or investigate a stuck transaction — everything had to go through manual database queries.</a:t>
            </a:r>
            <a:endParaRPr b="0" lang="en-US" sz="1250" spc="-1" strike="noStrike">
              <a:latin typeface="Arial"/>
            </a:endParaRPr>
          </a:p>
          <a:p>
            <a:pPr marL="177840" indent="-177840">
              <a:lnSpc>
                <a:spcPct val="100000"/>
              </a:lnSpc>
              <a:spcAft>
                <a:spcPts val="1400"/>
              </a:spcAft>
              <a:buClr>
                <a:srgbClr val="5b6472"/>
              </a:buClr>
              <a:buFont typeface="StarSymbol"/>
              <a:buChar char="▪"/>
            </a:pPr>
            <a:r>
              <a:rPr b="0" lang="en-US" sz="1250" spc="-1" strike="noStrike">
                <a:solidFill>
                  <a:srgbClr val="5b6472"/>
                </a:solidFill>
                <a:latin typeface="Calibri"/>
                <a:ea typeface="Calibri"/>
              </a:rPr>
              <a:t>Target user: internal/operations staff (not end consumers).</a:t>
            </a:r>
            <a:endParaRPr b="0" lang="en-US" sz="1250" spc="-1" strike="noStrike">
              <a:latin typeface="Arial"/>
            </a:endParaRPr>
          </a:p>
          <a:p>
            <a:pPr marL="177840" indent="-177840">
              <a:lnSpc>
                <a:spcPct val="100000"/>
              </a:lnSpc>
              <a:spcAft>
                <a:spcPts val="1400"/>
              </a:spcAft>
              <a:buClr>
                <a:srgbClr val="5b6472"/>
              </a:buClr>
              <a:buFont typeface="StarSymbol"/>
              <a:buChar char="▪"/>
            </a:pPr>
            <a:r>
              <a:rPr b="0" lang="en-US" sz="1250" spc="-1" strike="noStrike">
                <a:solidFill>
                  <a:srgbClr val="5b6472"/>
                </a:solidFill>
                <a:latin typeface="Calibri"/>
                <a:ea typeface="Calibri"/>
              </a:rPr>
              <a:t>Value: one dashboard for managing users (CRUD, activation) while also monitoring the full transaction log across every user — without direct database access.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46" name="Shape 6"/>
          <p:cNvSpPr/>
          <p:nvPr/>
        </p:nvSpPr>
        <p:spPr>
          <a:xfrm>
            <a:off x="6263640" y="1417320"/>
            <a:ext cx="328320" cy="328320"/>
          </a:xfrm>
          <a:prstGeom prst="ellipse">
            <a:avLst/>
          </a:prstGeom>
          <a:solidFill>
            <a:srgbClr val="3654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7" name="Text 7"/>
          <p:cNvSpPr/>
          <p:nvPr/>
        </p:nvSpPr>
        <p:spPr>
          <a:xfrm>
            <a:off x="6263640" y="141732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248" name="Text 8"/>
          <p:cNvSpPr/>
          <p:nvPr/>
        </p:nvSpPr>
        <p:spPr>
          <a:xfrm>
            <a:off x="6720840" y="1380600"/>
            <a:ext cx="48456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101828"/>
                </a:solidFill>
                <a:latin typeface="Cambria"/>
                <a:ea typeface="Cambria"/>
              </a:rPr>
              <a:t>Business Model &amp; Impact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49" name="Shape 9"/>
          <p:cNvSpPr/>
          <p:nvPr/>
        </p:nvSpPr>
        <p:spPr>
          <a:xfrm>
            <a:off x="6263640" y="1965960"/>
            <a:ext cx="5302800" cy="4434120"/>
          </a:xfrm>
          <a:prstGeom prst="roundRect">
            <a:avLst>
              <a:gd name="adj" fmla="val 2474"/>
            </a:avLst>
          </a:prstGeom>
          <a:solidFill>
            <a:srgbClr val="f6f7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0" name="Text 10"/>
          <p:cNvSpPr/>
          <p:nvPr/>
        </p:nvSpPr>
        <p:spPr>
          <a:xfrm>
            <a:off x="6537960" y="2240280"/>
            <a:ext cx="47541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b6472"/>
                </a:solidFill>
                <a:latin typeface="Calibri"/>
                <a:ea typeface="Calibri"/>
              </a:rPr>
              <a:t>Internal tooling — not direct revenue, but it underpins operations &amp; compliance.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51" name="Text 11"/>
          <p:cNvSpPr/>
          <p:nvPr/>
        </p:nvSpPr>
        <p:spPr>
          <a:xfrm>
            <a:off x="6537960" y="3017520"/>
            <a:ext cx="4754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01828"/>
                </a:solidFill>
                <a:latin typeface="Calibri"/>
                <a:ea typeface="Calibri"/>
              </a:rPr>
              <a:t>Impact &amp; Scalability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52" name="Text 12"/>
          <p:cNvSpPr/>
          <p:nvPr/>
        </p:nvSpPr>
        <p:spPr>
          <a:xfrm>
            <a:off x="6537960" y="3337560"/>
            <a:ext cx="4754160" cy="27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77840" indent="-177840">
              <a:lnSpc>
                <a:spcPct val="100000"/>
              </a:lnSpc>
              <a:spcAft>
                <a:spcPts val="1199"/>
              </a:spcAft>
              <a:buClr>
                <a:srgbClr val="5b6472"/>
              </a:buClr>
              <a:buFont typeface="StarSymbol"/>
              <a:buChar char="▪"/>
            </a:pPr>
            <a:r>
              <a:rPr b="0" lang="en-US" sz="1200" spc="-1" strike="noStrike">
                <a:solidFill>
                  <a:srgbClr val="5b6472"/>
                </a:solidFill>
                <a:latin typeface="Calibri"/>
                <a:ea typeface="Calibri"/>
              </a:rPr>
              <a:t>Reduces support load — admins can self-service check a user's transaction status without escalating to a developer.</a:t>
            </a:r>
            <a:endParaRPr b="0" lang="en-US" sz="1200" spc="-1" strike="noStrike">
              <a:latin typeface="Arial"/>
            </a:endParaRPr>
          </a:p>
          <a:p>
            <a:pPr marL="177840" indent="-177840">
              <a:lnSpc>
                <a:spcPct val="100000"/>
              </a:lnSpc>
              <a:spcAft>
                <a:spcPts val="1199"/>
              </a:spcAft>
              <a:buClr>
                <a:srgbClr val="5b6472"/>
              </a:buClr>
              <a:buFont typeface="StarSymbol"/>
              <a:buChar char="▪"/>
            </a:pPr>
            <a:r>
              <a:rPr b="0" lang="en-US" sz="1200" spc="-1" strike="noStrike">
                <a:solidFill>
                  <a:srgbClr val="5b6472"/>
                </a:solidFill>
                <a:latin typeface="Calibri"/>
                <a:ea typeface="Calibri"/>
              </a:rPr>
              <a:t>Scales to more users/transaction volume without needing raw database access.</a:t>
            </a:r>
            <a:endParaRPr b="0" lang="en-US" sz="1200" spc="-1" strike="noStrike">
              <a:latin typeface="Arial"/>
            </a:endParaRPr>
          </a:p>
          <a:p>
            <a:pPr marL="177840" indent="-177840">
              <a:lnSpc>
                <a:spcPct val="100000"/>
              </a:lnSpc>
              <a:spcAft>
                <a:spcPts val="1199"/>
              </a:spcAft>
              <a:buClr>
                <a:srgbClr val="5b6472"/>
              </a:buClr>
              <a:buFont typeface="StarSymbol"/>
              <a:buChar char="▪"/>
            </a:pPr>
            <a:r>
              <a:rPr b="0" lang="en-US" sz="1200" spc="-1" strike="noStrike">
                <a:solidFill>
                  <a:srgbClr val="5b6472"/>
                </a:solidFill>
                <a:latin typeface="Calibri"/>
                <a:ea typeface="Calibri"/>
              </a:rPr>
              <a:t>A foundation for future features: audit logs, transaction anomaly alerts.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53" name="Text 13"/>
          <p:cNvSpPr/>
          <p:nvPr/>
        </p:nvSpPr>
        <p:spPr>
          <a:xfrm>
            <a:off x="11457360" y="644652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5b6472"/>
                </a:solidFill>
                <a:latin typeface="Calibri"/>
                <a:ea typeface="Calibri"/>
              </a:rPr>
              <a:t>14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Text 0"/>
          <p:cNvSpPr/>
          <p:nvPr/>
        </p:nvSpPr>
        <p:spPr>
          <a:xfrm>
            <a:off x="640080" y="457200"/>
            <a:ext cx="108806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3654e0"/>
                </a:solidFill>
                <a:latin typeface="Cambria"/>
                <a:ea typeface="Cambria"/>
              </a:rPr>
              <a:t>Project Add-on: Technical Depth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255" name="Shape 1"/>
          <p:cNvSpPr/>
          <p:nvPr/>
        </p:nvSpPr>
        <p:spPr>
          <a:xfrm>
            <a:off x="640080" y="1417320"/>
            <a:ext cx="328320" cy="328320"/>
          </a:xfrm>
          <a:prstGeom prst="ellipse">
            <a:avLst/>
          </a:prstGeom>
          <a:solidFill>
            <a:srgbClr val="3654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6" name="Text 2"/>
          <p:cNvSpPr/>
          <p:nvPr/>
        </p:nvSpPr>
        <p:spPr>
          <a:xfrm>
            <a:off x="640080" y="141732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257" name="Text 3"/>
          <p:cNvSpPr/>
          <p:nvPr/>
        </p:nvSpPr>
        <p:spPr>
          <a:xfrm>
            <a:off x="1097280" y="1380600"/>
            <a:ext cx="48456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101828"/>
                </a:solidFill>
                <a:latin typeface="Cambria"/>
                <a:ea typeface="Cambria"/>
              </a:rPr>
              <a:t>Architecture &amp; New Endpoints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58" name="Shape 4"/>
          <p:cNvSpPr/>
          <p:nvPr/>
        </p:nvSpPr>
        <p:spPr>
          <a:xfrm>
            <a:off x="640080" y="1965960"/>
            <a:ext cx="5302800" cy="4434120"/>
          </a:xfrm>
          <a:prstGeom prst="roundRect">
            <a:avLst>
              <a:gd name="adj" fmla="val 2474"/>
            </a:avLst>
          </a:prstGeom>
          <a:solidFill>
            <a:srgbClr val="f6f7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9" name="Text 5"/>
          <p:cNvSpPr/>
          <p:nvPr/>
        </p:nvSpPr>
        <p:spPr>
          <a:xfrm>
            <a:off x="914400" y="2240280"/>
            <a:ext cx="4754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3654e0"/>
                </a:solidFill>
                <a:latin typeface="Courier New"/>
                <a:ea typeface="Courier New"/>
              </a:rPr>
              <a:t>GET /api/users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60" name="Text 6"/>
          <p:cNvSpPr/>
          <p:nvPr/>
        </p:nvSpPr>
        <p:spPr>
          <a:xfrm>
            <a:off x="914400" y="2532960"/>
            <a:ext cx="4754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b6472"/>
                </a:solidFill>
                <a:latin typeface="Calibri"/>
                <a:ea typeface="Calibri"/>
              </a:rPr>
              <a:t>List every user (ADMIN only)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61" name="Text 7"/>
          <p:cNvSpPr/>
          <p:nvPr/>
        </p:nvSpPr>
        <p:spPr>
          <a:xfrm>
            <a:off x="914400" y="3108960"/>
            <a:ext cx="4754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3654e0"/>
                </a:solidFill>
                <a:latin typeface="Courier New"/>
                <a:ea typeface="Courier New"/>
              </a:rPr>
              <a:t>PATCH /api/users/{id}/deactivate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62" name="Text 8"/>
          <p:cNvSpPr/>
          <p:nvPr/>
        </p:nvSpPr>
        <p:spPr>
          <a:xfrm>
            <a:off x="914400" y="3401640"/>
            <a:ext cx="4754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b6472"/>
                </a:solidFill>
                <a:latin typeface="Calibri"/>
                <a:ea typeface="Calibri"/>
              </a:rPr>
              <a:t>Deactivate a problem account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63" name="Text 9"/>
          <p:cNvSpPr/>
          <p:nvPr/>
        </p:nvSpPr>
        <p:spPr>
          <a:xfrm>
            <a:off x="914400" y="3977640"/>
            <a:ext cx="4754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3654e0"/>
                </a:solidFill>
                <a:latin typeface="Courier New"/>
                <a:ea typeface="Courier New"/>
              </a:rPr>
              <a:t>GET /api/transactions/all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64" name="Text 10"/>
          <p:cNvSpPr/>
          <p:nvPr/>
        </p:nvSpPr>
        <p:spPr>
          <a:xfrm>
            <a:off x="914400" y="4270320"/>
            <a:ext cx="4754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b6472"/>
                </a:solidFill>
                <a:latin typeface="Calibri"/>
                <a:ea typeface="Calibri"/>
              </a:rPr>
              <a:t>Cross-user transaction activity log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65" name="Text 11"/>
          <p:cNvSpPr/>
          <p:nvPr/>
        </p:nvSpPr>
        <p:spPr>
          <a:xfrm>
            <a:off x="914400" y="4983480"/>
            <a:ext cx="47541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5b6472"/>
                </a:solidFill>
                <a:latin typeface="Calibri"/>
                <a:ea typeface="Calibri"/>
              </a:rPr>
              <a:t>Layered protection: role-gated routes on the frontend (AdminRoute/UserOnlyRoute) + @PreAuthorize on the backend — not just hiding a menu in the UI.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66" name="Shape 12"/>
          <p:cNvSpPr/>
          <p:nvPr/>
        </p:nvSpPr>
        <p:spPr>
          <a:xfrm>
            <a:off x="6263640" y="1417320"/>
            <a:ext cx="328320" cy="328320"/>
          </a:xfrm>
          <a:prstGeom prst="ellipse">
            <a:avLst/>
          </a:prstGeom>
          <a:solidFill>
            <a:srgbClr val="3654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7" name="Text 13"/>
          <p:cNvSpPr/>
          <p:nvPr/>
        </p:nvSpPr>
        <p:spPr>
          <a:xfrm>
            <a:off x="6263640" y="141732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268" name="Text 14"/>
          <p:cNvSpPr/>
          <p:nvPr/>
        </p:nvSpPr>
        <p:spPr>
          <a:xfrm>
            <a:off x="6720840" y="1380600"/>
            <a:ext cx="48456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101828"/>
                </a:solidFill>
                <a:latin typeface="Cambria"/>
                <a:ea typeface="Cambria"/>
              </a:rPr>
              <a:t>Key Challenge &amp; Solution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69" name="Shape 15"/>
          <p:cNvSpPr/>
          <p:nvPr/>
        </p:nvSpPr>
        <p:spPr>
          <a:xfrm>
            <a:off x="6263640" y="1965960"/>
            <a:ext cx="5302800" cy="4434120"/>
          </a:xfrm>
          <a:prstGeom prst="roundRect">
            <a:avLst>
              <a:gd name="adj" fmla="val 2474"/>
            </a:avLst>
          </a:prstGeom>
          <a:solidFill>
            <a:srgbClr val="f6f7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0" name="Text 16"/>
          <p:cNvSpPr/>
          <p:nvPr/>
        </p:nvSpPr>
        <p:spPr>
          <a:xfrm>
            <a:off x="6537960" y="2240280"/>
            <a:ext cx="4754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01828"/>
                </a:solidFill>
                <a:latin typeface="Calibri"/>
                <a:ea typeface="Calibri"/>
              </a:rPr>
              <a:t>Challenge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71" name="Text 17"/>
          <p:cNvSpPr/>
          <p:nvPr/>
        </p:nvSpPr>
        <p:spPr>
          <a:xfrm>
            <a:off x="6537960" y="2541960"/>
            <a:ext cx="4754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b6472"/>
                </a:solidFill>
                <a:latin typeface="Calibri"/>
                <a:ea typeface="Calibri"/>
              </a:rPr>
              <a:t>Admins need to edit user data (name, email) without being forced to enter a new password every time — but the create-user endpoint requires one.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72" name="Text 18"/>
          <p:cNvSpPr/>
          <p:nvPr/>
        </p:nvSpPr>
        <p:spPr>
          <a:xfrm>
            <a:off x="6537960" y="3429000"/>
            <a:ext cx="4754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01828"/>
                </a:solidFill>
                <a:latin typeface="Calibri"/>
                <a:ea typeface="Calibri"/>
              </a:rPr>
              <a:t>Solution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73" name="Text 19"/>
          <p:cNvSpPr/>
          <p:nvPr/>
        </p:nvSpPr>
        <p:spPr>
          <a:xfrm>
            <a:off x="6537960" y="3730680"/>
            <a:ext cx="4754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b6472"/>
                </a:solidFill>
                <a:latin typeface="Calibri"/>
                <a:ea typeface="Calibri"/>
              </a:rPr>
              <a:t>A separate DTO for updates (UserUpdateRequest) — password is optional, null means "unchanged", validated differently from the registration DTO.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74" name="Text 20"/>
          <p:cNvSpPr/>
          <p:nvPr/>
        </p:nvSpPr>
        <p:spPr>
          <a:xfrm>
            <a:off x="6537960" y="4617720"/>
            <a:ext cx="4754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01828"/>
                </a:solidFill>
                <a:latin typeface="Calibri"/>
                <a:ea typeface="Calibri"/>
              </a:rPr>
              <a:t>Impact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75" name="Text 21"/>
          <p:cNvSpPr/>
          <p:nvPr/>
        </p:nvSpPr>
        <p:spPr>
          <a:xfrm>
            <a:off x="6537960" y="4919400"/>
            <a:ext cx="47541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12875b"/>
                </a:solidFill>
                <a:latin typeface="Calibri"/>
                <a:ea typeface="Calibri"/>
              </a:rPr>
              <a:t>The edit-user form behaves the way admins expect, with zero compromise to password-security validation at creation.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76" name="Text 22"/>
          <p:cNvSpPr/>
          <p:nvPr/>
        </p:nvSpPr>
        <p:spPr>
          <a:xfrm>
            <a:off x="11457360" y="644652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5b6472"/>
                </a:solidFill>
                <a:latin typeface="Calibri"/>
                <a:ea typeface="Calibri"/>
              </a:rPr>
              <a:t>15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Text 0"/>
          <p:cNvSpPr/>
          <p:nvPr/>
        </p:nvSpPr>
        <p:spPr>
          <a:xfrm>
            <a:off x="822960" y="64008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296" strike="noStrike">
                <a:solidFill>
                  <a:srgbClr val="3654e0"/>
                </a:solidFill>
                <a:latin typeface="Calibri"/>
                <a:ea typeface="Calibri"/>
              </a:rPr>
              <a:t>NICE TO HAVE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78" name="Text 1"/>
          <p:cNvSpPr/>
          <p:nvPr/>
        </p:nvSpPr>
        <p:spPr>
          <a:xfrm>
            <a:off x="777240" y="960120"/>
            <a:ext cx="91432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pc="-1" strike="noStrike">
                <a:solidFill>
                  <a:srgbClr val="101828"/>
                </a:solidFill>
                <a:latin typeface="Cambria"/>
                <a:ea typeface="Cambria"/>
              </a:rPr>
              <a:t>Software Engineering Mindset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279" name="Shape 2"/>
          <p:cNvSpPr/>
          <p:nvPr/>
        </p:nvSpPr>
        <p:spPr>
          <a:xfrm>
            <a:off x="640080" y="1874520"/>
            <a:ext cx="3565440" cy="4525560"/>
          </a:xfrm>
          <a:prstGeom prst="roundRect">
            <a:avLst>
              <a:gd name="adj" fmla="val 3077"/>
            </a:avLst>
          </a:prstGeom>
          <a:solidFill>
            <a:srgbClr val="f6f7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0" name="Shape 3"/>
          <p:cNvSpPr/>
          <p:nvPr/>
        </p:nvSpPr>
        <p:spPr>
          <a:xfrm>
            <a:off x="914400" y="2148840"/>
            <a:ext cx="328320" cy="328320"/>
          </a:xfrm>
          <a:prstGeom prst="ellipse">
            <a:avLst/>
          </a:prstGeom>
          <a:solidFill>
            <a:srgbClr val="3654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Text 4"/>
          <p:cNvSpPr/>
          <p:nvPr/>
        </p:nvSpPr>
        <p:spPr>
          <a:xfrm>
            <a:off x="914400" y="214884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282" name="Text 5"/>
          <p:cNvSpPr/>
          <p:nvPr/>
        </p:nvSpPr>
        <p:spPr>
          <a:xfrm>
            <a:off x="1371600" y="2112120"/>
            <a:ext cx="26510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01828"/>
                </a:solidFill>
                <a:latin typeface="Calibri"/>
                <a:ea typeface="Calibri"/>
              </a:rPr>
              <a:t>Code Quality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83" name="Text 6"/>
          <p:cNvSpPr/>
          <p:nvPr/>
        </p:nvSpPr>
        <p:spPr>
          <a:xfrm>
            <a:off x="914400" y="2697480"/>
            <a:ext cx="3016800" cy="35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77840" indent="-177840">
              <a:lnSpc>
                <a:spcPct val="100000"/>
              </a:lnSpc>
              <a:spcAft>
                <a:spcPts val="1001"/>
              </a:spcAft>
              <a:buClr>
                <a:srgbClr val="5b6472"/>
              </a:buClr>
              <a:buFont typeface="StarSymbol"/>
              <a:buChar char="▪"/>
            </a:pPr>
            <a:r>
              <a:rPr b="0" lang="en-US" sz="1050" spc="-1" strike="noStrike">
                <a:solidFill>
                  <a:srgbClr val="5b6472"/>
                </a:solidFill>
                <a:latin typeface="Calibri"/>
                <a:ea typeface="Calibri"/>
              </a:rPr>
              <a:t>Layered folder structure (controller/service/repository, api/components/pages)</a:t>
            </a:r>
            <a:endParaRPr b="0" lang="en-US" sz="1050" spc="-1" strike="noStrike">
              <a:latin typeface="Arial"/>
            </a:endParaRPr>
          </a:p>
          <a:p>
            <a:pPr marL="177840" indent="-177840">
              <a:lnSpc>
                <a:spcPct val="100000"/>
              </a:lnSpc>
              <a:spcAft>
                <a:spcPts val="1001"/>
              </a:spcAft>
              <a:buClr>
                <a:srgbClr val="5b6472"/>
              </a:buClr>
              <a:buFont typeface="StarSymbol"/>
              <a:buChar char="▪"/>
            </a:pPr>
            <a:r>
              <a:rPr b="0" lang="en-US" sz="1050" spc="-1" strike="noStrike">
                <a:solidFill>
                  <a:srgbClr val="5b6472"/>
                </a:solidFill>
                <a:latin typeface="Calibri"/>
                <a:ea typeface="Calibri"/>
              </a:rPr>
              <a:t>Separation of concerns — Midtrans logic isolated inside MidtransService</a:t>
            </a:r>
            <a:endParaRPr b="0" lang="en-US" sz="1050" spc="-1" strike="noStrike">
              <a:latin typeface="Arial"/>
            </a:endParaRPr>
          </a:p>
          <a:p>
            <a:pPr marL="177840" indent="-177840">
              <a:lnSpc>
                <a:spcPct val="100000"/>
              </a:lnSpc>
              <a:spcAft>
                <a:spcPts val="1001"/>
              </a:spcAft>
              <a:buClr>
                <a:srgbClr val="5b6472"/>
              </a:buClr>
              <a:buFont typeface="StarSymbol"/>
              <a:buChar char="▪"/>
            </a:pPr>
            <a:r>
              <a:rPr b="0" lang="en-US" sz="1050" spc="-1" strike="noStrike">
                <a:solidFill>
                  <a:srgbClr val="5b6472"/>
                </a:solidFill>
                <a:latin typeface="Calibri"/>
                <a:ea typeface="Calibri"/>
              </a:rPr>
              <a:t>Reusable components (TransactionTable used across 3 pages)</a:t>
            </a:r>
            <a:endParaRPr b="0" lang="en-US" sz="1050" spc="-1" strike="noStrike">
              <a:latin typeface="Arial"/>
            </a:endParaRPr>
          </a:p>
          <a:p>
            <a:pPr marL="177840" indent="-177840">
              <a:lnSpc>
                <a:spcPct val="100000"/>
              </a:lnSpc>
              <a:spcAft>
                <a:spcPts val="1001"/>
              </a:spcAft>
              <a:buClr>
                <a:srgbClr val="5b6472"/>
              </a:buClr>
              <a:buFont typeface="StarSymbol"/>
              <a:buChar char="▪"/>
            </a:pPr>
            <a:r>
              <a:rPr b="0" lang="en-US" sz="1050" spc="-1" strike="noStrike">
                <a:solidFill>
                  <a:srgbClr val="5b6472"/>
                </a:solidFill>
                <a:latin typeface="Calibri"/>
                <a:ea typeface="Calibri"/>
              </a:rPr>
              <a:t>Separate environment configuration (.env for API base URL &amp; Midtrans client key)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284" name="Shape 7"/>
          <p:cNvSpPr/>
          <p:nvPr/>
        </p:nvSpPr>
        <p:spPr>
          <a:xfrm>
            <a:off x="4434840" y="1874520"/>
            <a:ext cx="3565440" cy="4525560"/>
          </a:xfrm>
          <a:prstGeom prst="roundRect">
            <a:avLst>
              <a:gd name="adj" fmla="val 3077"/>
            </a:avLst>
          </a:prstGeom>
          <a:solidFill>
            <a:srgbClr val="f6f7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5" name="Shape 8"/>
          <p:cNvSpPr/>
          <p:nvPr/>
        </p:nvSpPr>
        <p:spPr>
          <a:xfrm>
            <a:off x="4709160" y="2148840"/>
            <a:ext cx="328320" cy="328320"/>
          </a:xfrm>
          <a:prstGeom prst="ellipse">
            <a:avLst/>
          </a:prstGeom>
          <a:solidFill>
            <a:srgbClr val="3654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6" name="Text 9"/>
          <p:cNvSpPr/>
          <p:nvPr/>
        </p:nvSpPr>
        <p:spPr>
          <a:xfrm>
            <a:off x="4709160" y="214884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287" name="Text 10"/>
          <p:cNvSpPr/>
          <p:nvPr/>
        </p:nvSpPr>
        <p:spPr>
          <a:xfrm>
            <a:off x="5166360" y="2112120"/>
            <a:ext cx="26510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01828"/>
                </a:solidFill>
                <a:latin typeface="Calibri"/>
                <a:ea typeface="Calibri"/>
              </a:rPr>
              <a:t>Security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88" name="Text 11"/>
          <p:cNvSpPr/>
          <p:nvPr/>
        </p:nvSpPr>
        <p:spPr>
          <a:xfrm>
            <a:off x="4709160" y="2697480"/>
            <a:ext cx="3016800" cy="35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77840" indent="-177840">
              <a:lnSpc>
                <a:spcPct val="100000"/>
              </a:lnSpc>
              <a:spcAft>
                <a:spcPts val="1001"/>
              </a:spcAft>
              <a:buClr>
                <a:srgbClr val="5b6472"/>
              </a:buClr>
              <a:buFont typeface="StarSymbol"/>
              <a:buChar char="▪"/>
            </a:pPr>
            <a:r>
              <a:rPr b="0" lang="en-US" sz="1050" spc="-1" strike="noStrike">
                <a:solidFill>
                  <a:srgbClr val="5b6472"/>
                </a:solidFill>
                <a:latin typeface="Calibri"/>
                <a:ea typeface="Calibri"/>
              </a:rPr>
              <a:t>JWT stateless auth + BCrypt password hashing</a:t>
            </a:r>
            <a:endParaRPr b="0" lang="en-US" sz="1050" spc="-1" strike="noStrike">
              <a:latin typeface="Arial"/>
            </a:endParaRPr>
          </a:p>
          <a:p>
            <a:pPr marL="177840" indent="-177840">
              <a:lnSpc>
                <a:spcPct val="100000"/>
              </a:lnSpc>
              <a:spcAft>
                <a:spcPts val="1001"/>
              </a:spcAft>
              <a:buClr>
                <a:srgbClr val="5b6472"/>
              </a:buClr>
              <a:buFont typeface="StarSymbol"/>
              <a:buChar char="▪"/>
            </a:pPr>
            <a:r>
              <a:rPr b="0" lang="en-US" sz="1050" spc="-1" strike="noStrike">
                <a:solidFill>
                  <a:srgbClr val="5b6472"/>
                </a:solidFill>
                <a:latin typeface="Calibri"/>
                <a:ea typeface="Calibri"/>
              </a:rPr>
              <a:t>Strict input validation at the boundary (Bean Validation)</a:t>
            </a:r>
            <a:endParaRPr b="0" lang="en-US" sz="1050" spc="-1" strike="noStrike">
              <a:latin typeface="Arial"/>
            </a:endParaRPr>
          </a:p>
          <a:p>
            <a:pPr marL="177840" indent="-177840">
              <a:lnSpc>
                <a:spcPct val="100000"/>
              </a:lnSpc>
              <a:spcAft>
                <a:spcPts val="1001"/>
              </a:spcAft>
              <a:buClr>
                <a:srgbClr val="5b6472"/>
              </a:buClr>
              <a:buFont typeface="StarSymbol"/>
              <a:buChar char="▪"/>
            </a:pPr>
            <a:r>
              <a:rPr b="0" lang="en-US" sz="1050" spc="-1" strike="noStrike">
                <a:solidFill>
                  <a:srgbClr val="5b6472"/>
                </a:solidFill>
                <a:latin typeface="Calibri"/>
                <a:ea typeface="Calibri"/>
              </a:rPr>
              <a:t>Protected routes — client &amp; server side</a:t>
            </a:r>
            <a:endParaRPr b="0" lang="en-US" sz="1050" spc="-1" strike="noStrike">
              <a:latin typeface="Arial"/>
            </a:endParaRPr>
          </a:p>
          <a:p>
            <a:pPr marL="177840" indent="-177840">
              <a:lnSpc>
                <a:spcPct val="100000"/>
              </a:lnSpc>
              <a:spcAft>
                <a:spcPts val="1001"/>
              </a:spcAft>
              <a:buClr>
                <a:srgbClr val="5b6472"/>
              </a:buClr>
              <a:buFont typeface="StarSymbol"/>
              <a:buChar char="▪"/>
            </a:pPr>
            <a:r>
              <a:rPr b="0" lang="en-US" sz="1050" spc="-1" strike="noStrike">
                <a:solidFill>
                  <a:srgbClr val="5b6472"/>
                </a:solidFill>
                <a:latin typeface="Calibri"/>
                <a:ea typeface="Calibri"/>
              </a:rPr>
              <a:t>The Midtrans server key never touches the frontend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289" name="Shape 12"/>
          <p:cNvSpPr/>
          <p:nvPr/>
        </p:nvSpPr>
        <p:spPr>
          <a:xfrm>
            <a:off x="8229600" y="1874520"/>
            <a:ext cx="3565440" cy="4525560"/>
          </a:xfrm>
          <a:prstGeom prst="roundRect">
            <a:avLst>
              <a:gd name="adj" fmla="val 3077"/>
            </a:avLst>
          </a:prstGeom>
          <a:solidFill>
            <a:srgbClr val="f6f7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0" name="Shape 13"/>
          <p:cNvSpPr/>
          <p:nvPr/>
        </p:nvSpPr>
        <p:spPr>
          <a:xfrm>
            <a:off x="8503920" y="2148840"/>
            <a:ext cx="328320" cy="328320"/>
          </a:xfrm>
          <a:prstGeom prst="ellipse">
            <a:avLst/>
          </a:prstGeom>
          <a:solidFill>
            <a:srgbClr val="3654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1" name="Text 14"/>
          <p:cNvSpPr/>
          <p:nvPr/>
        </p:nvSpPr>
        <p:spPr>
          <a:xfrm>
            <a:off x="8503920" y="214884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292" name="Text 15"/>
          <p:cNvSpPr/>
          <p:nvPr/>
        </p:nvSpPr>
        <p:spPr>
          <a:xfrm>
            <a:off x="8961120" y="2112120"/>
            <a:ext cx="26510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01828"/>
                </a:solidFill>
                <a:latin typeface="Calibri"/>
                <a:ea typeface="Calibri"/>
              </a:rPr>
              <a:t>Testing &amp; Deployment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93" name="Text 16"/>
          <p:cNvSpPr/>
          <p:nvPr/>
        </p:nvSpPr>
        <p:spPr>
          <a:xfrm>
            <a:off x="8503920" y="2697480"/>
            <a:ext cx="3016800" cy="35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77840" indent="-177840">
              <a:lnSpc>
                <a:spcPct val="100000"/>
              </a:lnSpc>
              <a:spcAft>
                <a:spcPts val="1001"/>
              </a:spcAft>
              <a:buClr>
                <a:srgbClr val="5b6472"/>
              </a:buClr>
              <a:buFont typeface="StarSymbol"/>
              <a:buChar char="▪"/>
            </a:pPr>
            <a:r>
              <a:rPr b="0" lang="en-US" sz="1050" spc="-1" strike="noStrike">
                <a:solidFill>
                  <a:srgbClr val="5b6472"/>
                </a:solidFill>
                <a:latin typeface="Calibri"/>
                <a:ea typeface="Calibri"/>
              </a:rPr>
              <a:t>Unit/service tests with JUnit + Mockito</a:t>
            </a:r>
            <a:endParaRPr b="0" lang="en-US" sz="1050" spc="-1" strike="noStrike">
              <a:latin typeface="Arial"/>
            </a:endParaRPr>
          </a:p>
          <a:p>
            <a:pPr marL="177840" indent="-177840">
              <a:lnSpc>
                <a:spcPct val="100000"/>
              </a:lnSpc>
              <a:spcAft>
                <a:spcPts val="1001"/>
              </a:spcAft>
              <a:buClr>
                <a:srgbClr val="5b6472"/>
              </a:buClr>
              <a:buFont typeface="StarSymbol"/>
              <a:buChar char="▪"/>
            </a:pPr>
            <a:r>
              <a:rPr b="0" lang="en-US" sz="1050" spc="-1" strike="noStrike">
                <a:solidFill>
                  <a:srgbClr val="5b6472"/>
                </a:solidFill>
                <a:latin typeface="Calibri"/>
                <a:ea typeface="Calibri"/>
              </a:rPr>
              <a:t>Postman collection as an API regression test suite</a:t>
            </a:r>
            <a:endParaRPr b="0" lang="en-US" sz="1050" spc="-1" strike="noStrike">
              <a:latin typeface="Arial"/>
            </a:endParaRPr>
          </a:p>
          <a:p>
            <a:pPr marL="177840" indent="-177840">
              <a:lnSpc>
                <a:spcPct val="100000"/>
              </a:lnSpc>
              <a:spcAft>
                <a:spcPts val="1001"/>
              </a:spcAft>
              <a:buClr>
                <a:srgbClr val="5b6472"/>
              </a:buClr>
              <a:buFont typeface="StarSymbol"/>
              <a:buChar char="▪"/>
            </a:pPr>
            <a:r>
              <a:rPr b="0" lang="en-US" sz="1050" spc="-1" strike="noStrike">
                <a:solidFill>
                  <a:srgbClr val="5b6472"/>
                </a:solidFill>
                <a:latin typeface="Calibri"/>
                <a:ea typeface="Calibri"/>
              </a:rPr>
              <a:t>Deploy-ready: backend to Railway/Render, frontend to Vercel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294" name="Text 17"/>
          <p:cNvSpPr/>
          <p:nvPr/>
        </p:nvSpPr>
        <p:spPr>
          <a:xfrm>
            <a:off x="11457360" y="644652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5b6472"/>
                </a:solidFill>
                <a:latin typeface="Calibri"/>
                <a:ea typeface="Calibri"/>
              </a:rPr>
              <a:t>16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654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hape 0"/>
          <p:cNvSpPr/>
          <p:nvPr/>
        </p:nvSpPr>
        <p:spPr>
          <a:xfrm>
            <a:off x="8778240" y="1097280"/>
            <a:ext cx="3839760" cy="3839760"/>
          </a:xfrm>
          <a:prstGeom prst="roundRect">
            <a:avLst>
              <a:gd name="adj" fmla="val 50000"/>
            </a:avLst>
          </a:prstGeom>
          <a:solidFill>
            <a:srgbClr val="2a41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6" name="Text 1"/>
          <p:cNvSpPr/>
          <p:nvPr/>
        </p:nvSpPr>
        <p:spPr>
          <a:xfrm>
            <a:off x="822960" y="146304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296" strike="noStrike">
                <a:solidFill>
                  <a:srgbClr val="c7cedd"/>
                </a:solidFill>
                <a:latin typeface="Calibri"/>
                <a:ea typeface="Calibri"/>
              </a:rPr>
              <a:t>LIVE DEMO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97" name="Text 2"/>
          <p:cNvSpPr/>
          <p:nvPr/>
        </p:nvSpPr>
        <p:spPr>
          <a:xfrm>
            <a:off x="777240" y="1828800"/>
            <a:ext cx="73144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800" spc="-1" strike="noStrike">
                <a:solidFill>
                  <a:srgbClr val="ffffff"/>
                </a:solidFill>
                <a:latin typeface="Cambria"/>
                <a:ea typeface="Cambria"/>
              </a:rPr>
              <a:t>Core Features Demo</a:t>
            </a:r>
            <a:endParaRPr b="0" lang="en-US" sz="3800" spc="-1" strike="noStrike">
              <a:latin typeface="Arial"/>
            </a:endParaRPr>
          </a:p>
        </p:txBody>
      </p:sp>
      <p:sp>
        <p:nvSpPr>
          <p:cNvPr id="298" name="Text 3"/>
          <p:cNvSpPr/>
          <p:nvPr/>
        </p:nvSpPr>
        <p:spPr>
          <a:xfrm>
            <a:off x="822960" y="2788920"/>
            <a:ext cx="6400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dce2fa"/>
                </a:solidFill>
                <a:latin typeface="Calibri"/>
                <a:ea typeface="Calibri"/>
              </a:rPr>
              <a:t>Here's the flow that will be demoed live: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99" name="Shape 4"/>
          <p:cNvSpPr/>
          <p:nvPr/>
        </p:nvSpPr>
        <p:spPr>
          <a:xfrm>
            <a:off x="822960" y="3291840"/>
            <a:ext cx="291960" cy="29196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0" name="Text 5"/>
          <p:cNvSpPr/>
          <p:nvPr/>
        </p:nvSpPr>
        <p:spPr>
          <a:xfrm>
            <a:off x="822960" y="3291840"/>
            <a:ext cx="291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30" spc="-1" strike="noStrike">
                <a:solidFill>
                  <a:srgbClr val="3654e0"/>
                </a:solidFill>
                <a:latin typeface="Cambria"/>
                <a:ea typeface="Cambria"/>
              </a:rPr>
              <a:t>1</a:t>
            </a:r>
            <a:endParaRPr b="0" lang="en-US" sz="1030" spc="-1" strike="noStrike">
              <a:latin typeface="Arial"/>
            </a:endParaRPr>
          </a:p>
        </p:txBody>
      </p:sp>
      <p:sp>
        <p:nvSpPr>
          <p:cNvPr id="301" name="Text 6"/>
          <p:cNvSpPr/>
          <p:nvPr/>
        </p:nvSpPr>
        <p:spPr>
          <a:xfrm>
            <a:off x="1280160" y="3273480"/>
            <a:ext cx="59428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Register &amp; Login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02" name="Shape 7"/>
          <p:cNvSpPr/>
          <p:nvPr/>
        </p:nvSpPr>
        <p:spPr>
          <a:xfrm>
            <a:off x="822960" y="3794760"/>
            <a:ext cx="291960" cy="29196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3" name="Text 8"/>
          <p:cNvSpPr/>
          <p:nvPr/>
        </p:nvSpPr>
        <p:spPr>
          <a:xfrm>
            <a:off x="822960" y="3794760"/>
            <a:ext cx="291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30" spc="-1" strike="noStrike">
                <a:solidFill>
                  <a:srgbClr val="3654e0"/>
                </a:solidFill>
                <a:latin typeface="Cambria"/>
                <a:ea typeface="Cambria"/>
              </a:rPr>
              <a:t>2</a:t>
            </a:r>
            <a:endParaRPr b="0" lang="en-US" sz="1030" spc="-1" strike="noStrike">
              <a:latin typeface="Arial"/>
            </a:endParaRPr>
          </a:p>
        </p:txBody>
      </p:sp>
      <p:sp>
        <p:nvSpPr>
          <p:cNvPr id="304" name="Text 9"/>
          <p:cNvSpPr/>
          <p:nvPr/>
        </p:nvSpPr>
        <p:spPr>
          <a:xfrm>
            <a:off x="1280160" y="3776400"/>
            <a:ext cx="59428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Top up balance via Midtrans Snap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05" name="Shape 10"/>
          <p:cNvSpPr/>
          <p:nvPr/>
        </p:nvSpPr>
        <p:spPr>
          <a:xfrm>
            <a:off x="822960" y="4297680"/>
            <a:ext cx="291960" cy="29196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6" name="Text 11"/>
          <p:cNvSpPr/>
          <p:nvPr/>
        </p:nvSpPr>
        <p:spPr>
          <a:xfrm>
            <a:off x="822960" y="4297680"/>
            <a:ext cx="291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30" spc="-1" strike="noStrike">
                <a:solidFill>
                  <a:srgbClr val="3654e0"/>
                </a:solidFill>
                <a:latin typeface="Cambria"/>
                <a:ea typeface="Cambria"/>
              </a:rPr>
              <a:t>3</a:t>
            </a:r>
            <a:endParaRPr b="0" lang="en-US" sz="1030" spc="-1" strike="noStrike">
              <a:latin typeface="Arial"/>
            </a:endParaRPr>
          </a:p>
        </p:txBody>
      </p:sp>
      <p:sp>
        <p:nvSpPr>
          <p:cNvPr id="307" name="Text 12"/>
          <p:cNvSpPr/>
          <p:nvPr/>
        </p:nvSpPr>
        <p:spPr>
          <a:xfrm>
            <a:off x="1280160" y="4279320"/>
            <a:ext cx="59428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Transfer to another user (email/phone)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08" name="Shape 13"/>
          <p:cNvSpPr/>
          <p:nvPr/>
        </p:nvSpPr>
        <p:spPr>
          <a:xfrm>
            <a:off x="822960" y="4800600"/>
            <a:ext cx="291960" cy="29196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9" name="Text 14"/>
          <p:cNvSpPr/>
          <p:nvPr/>
        </p:nvSpPr>
        <p:spPr>
          <a:xfrm>
            <a:off x="822960" y="4800600"/>
            <a:ext cx="291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30" spc="-1" strike="noStrike">
                <a:solidFill>
                  <a:srgbClr val="3654e0"/>
                </a:solidFill>
                <a:latin typeface="Cambria"/>
                <a:ea typeface="Cambria"/>
              </a:rPr>
              <a:t>4</a:t>
            </a:r>
            <a:endParaRPr b="0" lang="en-US" sz="1030" spc="-1" strike="noStrike">
              <a:latin typeface="Arial"/>
            </a:endParaRPr>
          </a:p>
        </p:txBody>
      </p:sp>
      <p:sp>
        <p:nvSpPr>
          <p:cNvPr id="310" name="Text 15"/>
          <p:cNvSpPr/>
          <p:nvPr/>
        </p:nvSpPr>
        <p:spPr>
          <a:xfrm>
            <a:off x="1280160" y="4782240"/>
            <a:ext cx="59428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Transaction history &amp; status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11" name="Shape 16"/>
          <p:cNvSpPr/>
          <p:nvPr/>
        </p:nvSpPr>
        <p:spPr>
          <a:xfrm>
            <a:off x="822960" y="5303520"/>
            <a:ext cx="291960" cy="29196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2" name="Text 17"/>
          <p:cNvSpPr/>
          <p:nvPr/>
        </p:nvSpPr>
        <p:spPr>
          <a:xfrm>
            <a:off x="822960" y="5303520"/>
            <a:ext cx="291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30" spc="-1" strike="noStrike">
                <a:solidFill>
                  <a:srgbClr val="3654e0"/>
                </a:solidFill>
                <a:latin typeface="Cambria"/>
                <a:ea typeface="Cambria"/>
              </a:rPr>
              <a:t>5</a:t>
            </a:r>
            <a:endParaRPr b="0" lang="en-US" sz="1030" spc="-1" strike="noStrike">
              <a:latin typeface="Arial"/>
            </a:endParaRPr>
          </a:p>
        </p:txBody>
      </p:sp>
      <p:sp>
        <p:nvSpPr>
          <p:cNvPr id="313" name="Text 18"/>
          <p:cNvSpPr/>
          <p:nvPr/>
        </p:nvSpPr>
        <p:spPr>
          <a:xfrm>
            <a:off x="1280160" y="5285160"/>
            <a:ext cx="59428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Admin: User management &amp; monitoring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14" name="Text 19"/>
          <p:cNvSpPr/>
          <p:nvPr/>
        </p:nvSpPr>
        <p:spPr>
          <a:xfrm>
            <a:off x="11457360" y="644652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5b6472"/>
                </a:solidFill>
                <a:latin typeface="Calibri"/>
                <a:ea typeface="Calibri"/>
              </a:rPr>
              <a:t>17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Shape 0"/>
          <p:cNvSpPr/>
          <p:nvPr/>
        </p:nvSpPr>
        <p:spPr>
          <a:xfrm>
            <a:off x="-1097280" y="4114800"/>
            <a:ext cx="4114080" cy="4114080"/>
          </a:xfrm>
          <a:prstGeom prst="roundRect">
            <a:avLst>
              <a:gd name="adj" fmla="val 50000"/>
            </a:avLst>
          </a:prstGeom>
          <a:solidFill>
            <a:srgbClr val="2a41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6" name="Text 1"/>
          <p:cNvSpPr/>
          <p:nvPr/>
        </p:nvSpPr>
        <p:spPr>
          <a:xfrm>
            <a:off x="822960" y="77724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c7cedd"/>
                </a:solidFill>
                <a:latin typeface="Calibri"/>
                <a:ea typeface="Calibri"/>
              </a:rPr>
              <a:t>Let's Connect and Collaborate!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17" name="Text 2"/>
          <p:cNvSpPr/>
          <p:nvPr/>
        </p:nvSpPr>
        <p:spPr>
          <a:xfrm>
            <a:off x="777240" y="1143000"/>
            <a:ext cx="73144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000" spc="-1" strike="noStrike">
                <a:solidFill>
                  <a:srgbClr val="ffffff"/>
                </a:solidFill>
                <a:latin typeface="Cambria"/>
                <a:ea typeface="Cambria"/>
              </a:rPr>
              <a:t>Thank You</a:t>
            </a:r>
            <a:endParaRPr b="0" lang="en-US" sz="5000" spc="-1" strike="noStrike">
              <a:latin typeface="Arial"/>
            </a:endParaRPr>
          </a:p>
        </p:txBody>
      </p:sp>
      <p:sp>
        <p:nvSpPr>
          <p:cNvPr id="318" name="Text 3"/>
          <p:cNvSpPr/>
          <p:nvPr/>
        </p:nvSpPr>
        <p:spPr>
          <a:xfrm>
            <a:off x="822960" y="2468880"/>
            <a:ext cx="5028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3654e0"/>
                </a:solidFill>
                <a:latin typeface="Calibri"/>
                <a:ea typeface="Calibri"/>
              </a:rPr>
              <a:t>Highlight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319" name="Text 4"/>
          <p:cNvSpPr/>
          <p:nvPr/>
        </p:nvSpPr>
        <p:spPr>
          <a:xfrm>
            <a:off x="822960" y="2788920"/>
            <a:ext cx="5119920" cy="18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77840" indent="-177840">
              <a:lnSpc>
                <a:spcPct val="100000"/>
              </a:lnSpc>
              <a:spcAft>
                <a:spcPts val="1001"/>
              </a:spcAft>
              <a:buClr>
                <a:srgbClr val="c7cedd"/>
              </a:buClr>
              <a:buFont typeface="StarSymbol"/>
              <a:buChar char="▪"/>
            </a:pPr>
            <a:r>
              <a:rPr b="0" lang="en-US" sz="1200" spc="-1" strike="noStrike">
                <a:solidFill>
                  <a:srgbClr val="c7cedd"/>
                </a:solidFill>
                <a:latin typeface="Calibri"/>
                <a:ea typeface="Calibri"/>
              </a:rPr>
              <a:t>Learned to build a payment gateway integration that's genuinely reliable, not just "works during the demo"</a:t>
            </a:r>
            <a:endParaRPr b="0" lang="en-US" sz="1200" spc="-1" strike="noStrike">
              <a:latin typeface="Arial"/>
            </a:endParaRPr>
          </a:p>
          <a:p>
            <a:pPr marL="177840" indent="-177840">
              <a:lnSpc>
                <a:spcPct val="100000"/>
              </a:lnSpc>
              <a:spcAft>
                <a:spcPts val="1001"/>
              </a:spcAft>
              <a:buClr>
                <a:srgbClr val="c7cedd"/>
              </a:buClr>
              <a:buFont typeface="StarSymbol"/>
              <a:buChar char="▪"/>
            </a:pPr>
            <a:r>
              <a:rPr b="0" lang="en-US" sz="1200" spc="-1" strike="noStrike">
                <a:solidFill>
                  <a:srgbClr val="c7cedd"/>
                </a:solidFill>
                <a:latin typeface="Calibri"/>
                <a:ea typeface="Calibri"/>
              </a:rPr>
              <a:t>Current limitation: webhook reliability in local dev still depends on the tunnel; patched with a polling fallback</a:t>
            </a:r>
            <a:endParaRPr b="0" lang="en-US" sz="1200" spc="-1" strike="noStrike">
              <a:latin typeface="Arial"/>
            </a:endParaRPr>
          </a:p>
          <a:p>
            <a:pPr marL="177840" indent="-177840">
              <a:lnSpc>
                <a:spcPct val="100000"/>
              </a:lnSpc>
              <a:spcAft>
                <a:spcPts val="1001"/>
              </a:spcAft>
              <a:buClr>
                <a:srgbClr val="c7cedd"/>
              </a:buClr>
              <a:buFont typeface="StarSymbol"/>
              <a:buChar char="▪"/>
            </a:pPr>
            <a:r>
              <a:rPr b="0" lang="en-US" sz="1200" spc="-1" strike="noStrike">
                <a:solidFill>
                  <a:srgbClr val="c7cedd"/>
                </a:solidFill>
                <a:latin typeface="Calibri"/>
                <a:ea typeface="Calibri"/>
              </a:rPr>
              <a:t>Roadmap: token storage via httpOnly cookie, real-time notifications (WebSocket) replacing polling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20" name="Text 5"/>
          <p:cNvSpPr/>
          <p:nvPr/>
        </p:nvSpPr>
        <p:spPr>
          <a:xfrm>
            <a:off x="6309360" y="2468880"/>
            <a:ext cx="5028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3654e0"/>
                </a:solidFill>
                <a:latin typeface="Calibri"/>
                <a:ea typeface="Calibri"/>
              </a:rPr>
              <a:t>Supporting Links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321" name="Text 6"/>
          <p:cNvSpPr/>
          <p:nvPr/>
        </p:nvSpPr>
        <p:spPr>
          <a:xfrm>
            <a:off x="6309360" y="2788920"/>
            <a:ext cx="5119920" cy="18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77840" indent="-177840">
              <a:lnSpc>
                <a:spcPct val="100000"/>
              </a:lnSpc>
              <a:spcAft>
                <a:spcPts val="1001"/>
              </a:spcAft>
              <a:buClr>
                <a:srgbClr val="c7cedd"/>
              </a:buClr>
              <a:buFont typeface="StarSymbol"/>
              <a:buChar char="▪"/>
            </a:pPr>
            <a:r>
              <a:rPr b="1" lang="en-US" sz="1200" spc="-1" strike="noStrike">
                <a:solidFill>
                  <a:srgbClr val="c7cedd"/>
                </a:solidFill>
                <a:latin typeface="Calibri"/>
                <a:ea typeface="Calibri"/>
              </a:rPr>
              <a:t>GitHub repository — ERD, tech stack, how to run the project</a:t>
            </a:r>
            <a:endParaRPr b="0" lang="en-US" sz="1200" spc="-1" strike="noStrike">
              <a:latin typeface="Arial"/>
            </a:endParaRPr>
          </a:p>
          <a:p>
            <a:pPr marL="177840" indent="-177840">
              <a:lnSpc>
                <a:spcPct val="100000"/>
              </a:lnSpc>
              <a:spcAft>
                <a:spcPts val="1001"/>
              </a:spcAft>
              <a:buClr>
                <a:srgbClr val="c7cedd"/>
              </a:buClr>
              <a:buFont typeface="StarSymbol"/>
              <a:buChar char="▪"/>
            </a:pPr>
            <a:r>
              <a:rPr b="1" lang="en-US" sz="1200" spc="-1" strike="noStrike">
                <a:solidFill>
                  <a:srgbClr val="c7cedd"/>
                </a:solidFill>
                <a:latin typeface="Calibri"/>
                <a:ea typeface="Calibri"/>
              </a:rPr>
              <a:t>API documentation — Postman collection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22" name="Text 7"/>
          <p:cNvSpPr/>
          <p:nvPr/>
        </p:nvSpPr>
        <p:spPr>
          <a:xfrm>
            <a:off x="11457360" y="644652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5b6472"/>
                </a:solidFill>
                <a:latin typeface="Calibri"/>
                <a:ea typeface="Calibri"/>
              </a:rPr>
              <a:t>18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2026-09-05T15:45:34Z</dcterms:created>
  <dc:creator>PptxGenJS</dc:creator>
  <dc:description/>
  <dc:language>en-US</dc:language>
  <cp:lastModifiedBy/>
  <dcterms:modified xsi:type="dcterms:W3CDTF">2026-09-05T23:04:12Z</dcterms:modified>
  <cp:revision>5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18</vt:i4>
  </property>
  <property fmtid="{D5CDD505-2E9C-101B-9397-08002B2CF9AE}" pid="3" name="PresentationFormat">
    <vt:lpwstr>On-screen Show (16:9)</vt:lpwstr>
  </property>
  <property fmtid="{D5CDD505-2E9C-101B-9397-08002B2CF9AE}" pid="4" name="Slides">
    <vt:i4>18</vt:i4>
  </property>
</Properties>
</file>